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Adam</a:t>
            </a:r>
          </a:p>
          <a:p>
            <a:r>
              <a:t>Target time: 0:40</a:t>
            </a:r>
          </a:p>
          <a:p>
            <a:r>
              <a:t>Script:</a:t>
            </a:r>
          </a:p>
          <a:p>
            <a:r>
              <a:t>We are Group 10, and our final project studies how COVID-19 changed New York City yellow taxi behavior before, during, and after the main disruption period. Instead of looking only at whether taxi activity fell, we ask a broader question: which behaviors bounced back, and which ones stayed changed. We answer that through three research questions on tipping, airport recovery, and the shift from cash to cashless payments.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Adam</a:t>
            </a:r>
          </a:p>
          <a:p>
            <a:r>
              <a:t>Target time: 1:05</a:t>
            </a:r>
          </a:p>
          <a:p>
            <a:r>
              <a:t>Script:</a:t>
            </a:r>
          </a:p>
          <a:p>
            <a:r>
              <a:t>This problem matters because COVID did not only reduce mobility, it also changed how people traveled, how they paid, and how different types of trips recovered. Yellow taxi data is useful because it gives trip-level information on time, fare, tips, payment type, and pickup and dropoff locations. That means we can study not just whether demand fell, but whether rider behavior inside trips changed in ways that persisted after the initial shock.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Chris</a:t>
            </a:r>
          </a:p>
          <a:p>
            <a:r>
              <a:t>Target time: 1:10</a:t>
            </a:r>
          </a:p>
          <a:p>
            <a:r>
              <a:t>Script:</a:t>
            </a:r>
          </a:p>
          <a:p>
            <a:r>
              <a:t>Our first research question asks how recorded tipping behavior changed over time. Our second asks whether airport-related yellow taxi recovery differed between JFK and LaGuardia, which makes the airport story more specific and less trivial. Our third asks whether COVID accelerated the shift from cash to cashless payments and whether that change persisted. Across all three questions, the main contribution is a common recovery framework built on the same data source, the same period definitions, and a reproducible analysis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Harsh</a:t>
            </a:r>
          </a:p>
          <a:p>
            <a:r>
              <a:t>Target time: 1:10</a:t>
            </a:r>
          </a:p>
          <a:p>
            <a:r>
              <a:t>Script:</a:t>
            </a:r>
          </a:p>
          <a:p>
            <a:r>
              <a:t>Our dataset is the New York City TLC yellow taxi trip record data from January 2019 through December 2023, plus the taxi zone lookup table. In total, our study window contains 60 monthly files and about 218.1 million yellow taxi trips. The key inputs are trip time, fare, tip, payment type, distance, passenger count, and pickup and dropoff locations. We organize the analysis into four periods: pre-COVID in 2019, the disruption year in 2020, an intermediate recovery period in 2021 and 2022, and a post-COVID period in 2023. That intermediate period is important because otherwise the story would jump too abruptly from the shock to the recovery.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Harsh</a:t>
            </a:r>
          </a:p>
          <a:p>
            <a:r>
              <a:t>Target time: 1:10</a:t>
            </a:r>
          </a:p>
          <a:p>
            <a:r>
              <a:t>Script:</a:t>
            </a:r>
          </a:p>
          <a:p>
            <a:r>
              <a:t>All three research questions are built on the same DuckDB-based query workflow rather than one giant in-memory dataframe. The shared script reads the local parquet files, assigns each month to one of the four project periods, and produces a consistent base for the downstream analyses. From there, each research question applies its own filters and methodology: RQ1 focuses on valid credit-card trips, RQ2 identifies airport-related trips and estimates a panel regression, and RQ3 groups payment types and then adds a held-out machine learning evaluation.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Harsh</a:t>
            </a:r>
          </a:p>
          <a:p>
            <a:r>
              <a:t>Target time: 1:20</a:t>
            </a:r>
          </a:p>
          <a:p>
            <a:r>
              <a:t>Script:</a:t>
            </a:r>
          </a:p>
          <a:p>
            <a:r>
              <a:t>For RQ1, we measure tipping using credit-card trips only, because cash tips are not reliably captured in the TLC records. The baseline average tip percentage in 2019 is 22.57 percent. That rises to 23.34 percent in 2020 and stays at about 23.35 percent in the intermediate recovery period, before dropping to 22.19 percent in 2023. So the main pattern is that tipping appears to rise during and shortly after the disruption, but by the post-COVID period it is slightly below the 2019 baseline. Our interpretation is that the shift in tipping behavior looks more temporary than permanent, but the result only speaks to recorded card tips, not all tipping behavior.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Adam</a:t>
            </a:r>
          </a:p>
          <a:p>
            <a:r>
              <a:t>Target time: 1:30</a:t>
            </a:r>
          </a:p>
          <a:p>
            <a:r>
              <a:t>Script:</a:t>
            </a:r>
          </a:p>
          <a:p>
            <a:r>
              <a:t>We sharpened RQ2 so that it is not just the obvious statement that airport trips fell during COVID. Instead, we ask whether JFK and LaGuardia recovered differently. Descriptively, both airports collapse in 2020, but JFK recovers more strongly afterward, both in absolute monthly volume and as a share of the yellow taxi system. By 2023, JFK is back to about 70.4 percent of its 2019 airport-trip volume, while LaGuardia is at about 57.7 percent. Because the intermediate period covers two years, we focus on average monthly comparisons rather than raw period totals so the comparison stays fair.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Adam then Chris</a:t>
            </a:r>
          </a:p>
          <a:p>
            <a:r>
              <a:t>Target time: 1:20</a:t>
            </a:r>
          </a:p>
          <a:p>
            <a:r>
              <a:t>Script:</a:t>
            </a:r>
          </a:p>
          <a:p>
            <a:r>
              <a:t>Adam: To move beyond the descriptive plots, we estimate a monthly airport panel regression where LaGuardia and the 2019 baseline are the reference categories, and the key evidence comes from the JFK-by-period interaction terms.</a:t>
            </a:r>
            <a:br/>
            <a:r>
              <a:t>Chris: The COVID interaction is not meaningfully different from zero, but the later interactions are both positive and statistically significant. The intermediate interaction is about positive 0.0108 with a p-value of about 0.003, and the post-COVID interaction is about positive 0.0125 with a p-value below one times ten to the negative ninth. In plain terms, the difference between the airports becomes clearest during the recovery rather than during the initial collapse, and that result also survives the pickup-only robustness check.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Chris</a:t>
            </a:r>
          </a:p>
          <a:p>
            <a:r>
              <a:t>Target time: 1:20</a:t>
            </a:r>
          </a:p>
          <a:p>
            <a:r>
              <a:t>Script:</a:t>
            </a:r>
          </a:p>
          <a:p>
            <a:r>
              <a:t>For RQ3, the key point is not that cashless payment suddenly appeared during COVID, because it was already common before the pandemic. The real question is whether the pandemic accelerated the shift and whether that shift persisted. Using cashless share among known payment trips, the baseline is 72.59 percent in 2019, which rises to 73.96 percent in 2020, 78.46 percent in the intermediate period, and 82.34 percent in 2023. That is a gain of about 9.75 percentage points relative to the baseline by the end of the study window. We treat known-payment share as the primary measure because ambiguous payment codes vary over time, so the all-trip version is less clean for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Harsh then Chris</a:t>
            </a:r>
          </a:p>
          <a:p>
            <a:r>
              <a:t>Target time: 1:25</a:t>
            </a:r>
          </a:p>
          <a:p>
            <a:r>
              <a:t>Script:</a:t>
            </a:r>
          </a:p>
          <a:p>
            <a:r>
              <a:t>Harsh: RQ3 is also the section that directly satisfies the final modeling requirement. We train on known-payment trips before July 2023 and test on 56,105 held-out trips from July 2023 onward, with 513,206 training rows. Accuracy alone is not very helpful because the test set is heavily tilted toward cashless trips, so even the dummy baseline that always predicts the majority class reaches high accuracy.</a:t>
            </a:r>
            <a:br/>
            <a:r>
              <a:t>Chris: The more meaningful comparison is ROC-AUC, where logistic regression improves from 0.500 to 0.581, which is a 16.25 percent improvement over the dummy baseline, and XGBoost improves further to 0.638, which is a 27.54 percent improvement. That tells us the trip features contain real predictive signal, and the importance plot also shows that period indicators remain among the strongest features even after controlling for trip context.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Shared round-robin</a:t>
            </a:r>
          </a:p>
          <a:p>
            <a:r>
              <a:t>Target time: 1:15</a:t>
            </a:r>
          </a:p>
          <a:p>
            <a:r>
              <a:t>Script:</a:t>
            </a:r>
          </a:p>
          <a:p>
            <a:r>
              <a:t>Adam: For RQ2, one thing we learned is that raw airport counts by themselves were not enough, because the entire yellow taxi system also changed so much. That is why the share-based comparison became our main descriptive and inferential outcome.</a:t>
            </a:r>
            <a:br/>
            <a:r>
              <a:t>Harsh: For RQ1, we could not treat all tipping data the same way because cash tips are not fully observed in the TLC records. That is why the final analysis focuses on credit-card trips only.</a:t>
            </a:r>
            <a:br/>
            <a:r>
              <a:t>Chris: For RQ3, raw accuracy did not separate the models very well because the held-out test set is imbalanced toward cashless trips. That is why we rely more on ROC-AUC and average precision when comparing the models.</a:t>
            </a:r>
            <a:br/>
            <a:r>
              <a:t>Adam close: Across all three questions, the broader limitation is that this is evidence about yellow taxi behavior, not a causal statement about all travel in New York City.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Chris</a:t>
            </a:r>
          </a:p>
          <a:p>
            <a:r>
              <a:t>Target time: 0:40</a:t>
            </a:r>
          </a:p>
          <a:p>
            <a:r>
              <a:t>Script:</a:t>
            </a:r>
          </a:p>
          <a:p>
            <a:r>
              <a:t>Our overall conclusion is that COVID changed multiple dimensions of yellow taxi behavior, but those dimensions did not recover in the same way. Tipping rose during the disruption and intermediate period but moved back close to baseline by 2023. Airport recovery remained incomplete and uneven, with JFK recovering more strongly than LaGuardia. And payment behavior shows the most persistent shift, with cashless usage continuing to grow well after the initial shock. Those differences are the main message we want the audience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Backup</a:t>
            </a:r>
          </a:p>
          <a:p>
            <a:r>
              <a:t>Target time: Backup</a:t>
            </a:r>
          </a:p>
          <a:p>
            <a:r>
              <a:t>Script:</a:t>
            </a:r>
          </a:p>
          <a:p>
            <a:r>
              <a:t>Use this slide if the audience asks about the exact inferential evidence behind the airport claim.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Any</a:t>
            </a:r>
          </a:p>
          <a:p>
            <a:r>
              <a:t>Target time: Backup</a:t>
            </a:r>
          </a:p>
          <a:p>
            <a:r>
              <a:t>Script:</a:t>
            </a:r>
          </a:p>
          <a:p>
            <a:r>
              <a:t>Use this slide if the audience asks why ROC-AUC matters more than raw accuracy or wants the exact held-out model metrics.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Backup</a:t>
            </a:r>
          </a:p>
          <a:p>
            <a:r>
              <a:t>Target time: Backup</a:t>
            </a:r>
          </a:p>
          <a:p>
            <a:r>
              <a:t>Script:</a:t>
            </a:r>
          </a:p>
          <a:p>
            <a:r>
              <a:t>Use this slide if someone asks how the work can be rerun from the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4213D"/>
          </a:solidFill>
          <a:ln>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25880"/>
            <a:ext cx="10972800" cy="1463040"/>
          </a:xfrm>
          <a:prstGeom prst="rect">
            <a:avLst/>
          </a:prstGeom>
          <a:noFill/>
        </p:spPr>
        <p:txBody>
          <a:bodyPr wrap="none">
            <a:spAutoFit/>
          </a:bodyPr>
          <a:lstStyle/>
          <a:p>
            <a:pPr algn="l"/>
            <a:r>
              <a:rPr sz="2800" b="1">
                <a:solidFill>
                  <a:srgbClr val="14213D"/>
                </a:solidFill>
                <a:latin typeface="Aptos Display"/>
              </a:rPr>
              <a:t>COVID-19 and Behavioral Shifts in NYC Taxi Travel</a:t>
            </a:r>
          </a:p>
          <a:p>
            <a:r>
              <a:rPr sz="2200">
                <a:solidFill>
                  <a:srgbClr val="305EB4"/>
                </a:solidFill>
                <a:latin typeface="Aptos"/>
              </a:rPr>
              <a:t>Tipping, Airport Demand, and the Move to Cashless Payments</a:t>
            </a:r>
          </a:p>
        </p:txBody>
      </p:sp>
      <p:sp>
        <p:nvSpPr>
          <p:cNvPr id="4" name="TextBox 3"/>
          <p:cNvSpPr txBox="1"/>
          <p:nvPr/>
        </p:nvSpPr>
        <p:spPr>
          <a:xfrm>
            <a:off x="658368" y="2743200"/>
            <a:ext cx="9875520" cy="640080"/>
          </a:xfrm>
          <a:prstGeom prst="rect">
            <a:avLst/>
          </a:prstGeom>
          <a:noFill/>
        </p:spPr>
        <p:txBody>
          <a:bodyPr wrap="none">
            <a:spAutoFit/>
          </a:bodyPr>
          <a:lstStyle/>
          <a:p>
            <a:r>
              <a:rPr sz="2000">
                <a:solidFill>
                  <a:srgbClr val="2D3436"/>
                </a:solidFill>
                <a:latin typeface="Aptos"/>
              </a:rPr>
              <a:t>Group 10 | Adam Neto, Harsh Kalyani, Chris Wang</a:t>
            </a:r>
          </a:p>
        </p:txBody>
      </p:sp>
      <p:sp>
        <p:nvSpPr>
          <p:cNvPr id="5" name="Rounded Rectangle 4"/>
          <p:cNvSpPr/>
          <p:nvPr/>
        </p:nvSpPr>
        <p:spPr>
          <a:xfrm>
            <a:off x="658368" y="3657600"/>
            <a:ext cx="10241280" cy="960120"/>
          </a:xfrm>
          <a:prstGeom prst="roundRect">
            <a:avLst/>
          </a:prstGeom>
          <a:solidFill>
            <a:srgbClr val="E7EFFC"/>
          </a:solidFill>
          <a:ln>
            <a:solidFill>
              <a:srgbClr val="E7EFF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4213D"/>
                </a:solidFill>
                <a:latin typeface="Aptos"/>
              </a:rPr>
              <a:t>COVID changed NYC yellow taxi behavior, but the recovery was uneven across tipping, airport demand, and payment choice.</a:t>
            </a:r>
          </a:p>
        </p:txBody>
      </p:sp>
      <p:sp>
        <p:nvSpPr>
          <p:cNvPr id="6" name="TextBox 5"/>
          <p:cNvSpPr txBox="1"/>
          <p:nvPr/>
        </p:nvSpPr>
        <p:spPr>
          <a:xfrm>
            <a:off x="658368" y="5897880"/>
            <a:ext cx="4023360" cy="320040"/>
          </a:xfrm>
          <a:prstGeom prst="rect">
            <a:avLst/>
          </a:prstGeom>
          <a:noFill/>
        </p:spPr>
        <p:txBody>
          <a:bodyPr wrap="none">
            <a:spAutoFit/>
          </a:bodyPr>
          <a:lstStyle/>
          <a:p>
            <a:r>
              <a:rPr sz="1400">
                <a:solidFill>
                  <a:srgbClr val="6E757E"/>
                </a:solidFill>
                <a:latin typeface="Aptos"/>
              </a:rPr>
              <a:t>CISC 351 | Winter 2026</a:t>
            </a:r>
          </a:p>
        </p:txBody>
      </p:sp>
      <p:sp>
        <p:nvSpPr>
          <p:cNvPr id="7" name="TextBox 6"/>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Why This Problem Matters</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Adam | Target time: 1:05</a:t>
            </a:r>
          </a:p>
        </p:txBody>
      </p:sp>
      <p:sp>
        <p:nvSpPr>
          <p:cNvPr id="4" name="TextBox 3"/>
          <p:cNvSpPr txBox="1"/>
          <p:nvPr/>
        </p:nvSpPr>
        <p:spPr>
          <a:xfrm>
            <a:off x="685800" y="1325880"/>
            <a:ext cx="6858000" cy="4937760"/>
          </a:xfrm>
          <a:prstGeom prst="rect">
            <a:avLst/>
          </a:prstGeom>
          <a:noFill/>
        </p:spPr>
        <p:txBody>
          <a:bodyPr wrap="square" lIns="0" rIns="0" tIns="0" bIns="0">
            <a:spAutoFit/>
          </a:bodyPr>
          <a:lstStyle/>
          <a:p>
            <a:pPr>
              <a:spcAft>
                <a:spcPts val="700"/>
              </a:spcAft>
            </a:pPr>
            <a:r>
              <a:rPr sz="2000">
                <a:solidFill>
                  <a:srgbClr val="2D3436"/>
                </a:solidFill>
                <a:latin typeface="Aptos"/>
              </a:rPr>
              <a:t>COVID changed more than total trip volume</a:t>
            </a:r>
          </a:p>
          <a:p>
            <a:pPr>
              <a:spcAft>
                <a:spcPts val="700"/>
              </a:spcAft>
            </a:pPr>
            <a:r>
              <a:rPr sz="2000">
                <a:solidFill>
                  <a:srgbClr val="2D3436"/>
                </a:solidFill>
                <a:latin typeface="Aptos"/>
              </a:rPr>
              <a:t>Taxi data reveals behavior inside trips: when people travel, how they tip, how they pay, and what types of trips recover</a:t>
            </a:r>
          </a:p>
          <a:p>
            <a:pPr>
              <a:spcAft>
                <a:spcPts val="700"/>
              </a:spcAft>
            </a:pPr>
            <a:r>
              <a:rPr sz="2000">
                <a:solidFill>
                  <a:srgbClr val="2D3436"/>
                </a:solidFill>
                <a:latin typeface="Aptos"/>
              </a:rPr>
              <a:t>The project asks which travel behaviors bounced back and which ones stayed changed</a:t>
            </a:r>
          </a:p>
          <a:p>
            <a:pPr>
              <a:spcAft>
                <a:spcPts val="700"/>
              </a:spcAft>
            </a:pPr>
            <a:r>
              <a:rPr sz="2000">
                <a:solidFill>
                  <a:srgbClr val="2D3436"/>
                </a:solidFill>
                <a:latin typeface="Aptos"/>
              </a:rPr>
              <a:t>Yellow taxi records provide trip-level evidence instead of broad citywide anecdotes</a:t>
            </a:r>
          </a:p>
        </p:txBody>
      </p:sp>
      <p:sp>
        <p:nvSpPr>
          <p:cNvPr id="5" name="Rounded Rectangle 4"/>
          <p:cNvSpPr/>
          <p:nvPr/>
        </p:nvSpPr>
        <p:spPr>
          <a:xfrm>
            <a:off x="8001000" y="1508760"/>
            <a:ext cx="3474720" cy="3474720"/>
          </a:xfrm>
          <a:prstGeom prst="roundRect">
            <a:avLst/>
          </a:prstGeom>
          <a:solidFill>
            <a:srgbClr val="FBF5E2"/>
          </a:solidFill>
          <a:ln>
            <a:solidFill>
              <a:srgbClr val="FBF5E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Core lens</a:t>
            </a:r>
          </a:p>
          <a:p>
            <a:pPr>
              <a:spcAft>
                <a:spcPts val="300"/>
              </a:spcAft>
            </a:pPr>
            <a:r>
              <a:rPr sz="1500">
                <a:solidFill>
                  <a:srgbClr val="2D3436"/>
                </a:solidFill>
                <a:latin typeface="Aptos"/>
              </a:rPr>
              <a:t>Trip-level TLC records</a:t>
            </a:r>
          </a:p>
          <a:p>
            <a:pPr>
              <a:spcAft>
                <a:spcPts val="300"/>
              </a:spcAft>
            </a:pPr>
            <a:r>
              <a:rPr sz="1500">
                <a:solidFill>
                  <a:srgbClr val="2D3436"/>
                </a:solidFill>
                <a:latin typeface="Aptos"/>
              </a:rPr>
              <a:t>Behavior within trips</a:t>
            </a:r>
          </a:p>
          <a:p>
            <a:pPr>
              <a:spcAft>
                <a:spcPts val="300"/>
              </a:spcAft>
            </a:pPr>
            <a:r>
              <a:rPr sz="1500">
                <a:solidFill>
                  <a:srgbClr val="2D3436"/>
                </a:solidFill>
                <a:latin typeface="Aptos"/>
              </a:rPr>
              <a:t>Recovery over 2019-2023</a:t>
            </a:r>
          </a:p>
        </p:txBody>
      </p:sp>
      <p:sp>
        <p:nvSpPr>
          <p:cNvPr id="6" name="TextBox 5"/>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Research Questions and Contributions</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Chris | Target time: 1:10</a:t>
            </a:r>
          </a:p>
        </p:txBody>
      </p:sp>
      <p:sp>
        <p:nvSpPr>
          <p:cNvPr id="4" name="TextBox 3"/>
          <p:cNvSpPr txBox="1"/>
          <p:nvPr/>
        </p:nvSpPr>
        <p:spPr>
          <a:xfrm>
            <a:off x="685800" y="1325880"/>
            <a:ext cx="6858000" cy="4937760"/>
          </a:xfrm>
          <a:prstGeom prst="rect">
            <a:avLst/>
          </a:prstGeom>
          <a:noFill/>
        </p:spPr>
        <p:txBody>
          <a:bodyPr wrap="square" lIns="0" rIns="0" tIns="0" bIns="0">
            <a:spAutoFit/>
          </a:bodyPr>
          <a:lstStyle/>
          <a:p>
            <a:pPr>
              <a:spcAft>
                <a:spcPts val="700"/>
              </a:spcAft>
            </a:pPr>
            <a:r>
              <a:rPr sz="2000">
                <a:solidFill>
                  <a:srgbClr val="2D3436"/>
                </a:solidFill>
                <a:latin typeface="Aptos"/>
              </a:rPr>
              <a:t>RQ1: How did recorded tipping behavior change across the four project periods?</a:t>
            </a:r>
          </a:p>
          <a:p>
            <a:pPr>
              <a:spcAft>
                <a:spcPts val="700"/>
              </a:spcAft>
            </a:pPr>
            <a:r>
              <a:rPr sz="2000">
                <a:solidFill>
                  <a:srgbClr val="2D3436"/>
                </a:solidFill>
                <a:latin typeface="Aptos"/>
              </a:rPr>
              <a:t>RQ2: Did JFK and LaGuardia recover differently after the COVID shock?</a:t>
            </a:r>
          </a:p>
          <a:p>
            <a:pPr>
              <a:spcAft>
                <a:spcPts val="700"/>
              </a:spcAft>
            </a:pPr>
            <a:r>
              <a:rPr sz="2000">
                <a:solidFill>
                  <a:srgbClr val="2D3436"/>
                </a:solidFill>
                <a:latin typeface="Aptos"/>
              </a:rPr>
              <a:t>RQ3: Did COVID accelerate the shift from cash to cashless payments, and did that change persist?</a:t>
            </a:r>
          </a:p>
          <a:p>
            <a:pPr>
              <a:spcAft>
                <a:spcPts val="700"/>
              </a:spcAft>
            </a:pPr>
            <a:r>
              <a:rPr sz="2000">
                <a:solidFill>
                  <a:srgbClr val="2D3436"/>
                </a:solidFill>
                <a:latin typeface="Aptos"/>
              </a:rPr>
              <a:t>Shared contributions: common 4-period design, reproducible DuckDB pipeline, descriptive + inferential + ML evidence</a:t>
            </a:r>
          </a:p>
        </p:txBody>
      </p:sp>
      <p:sp>
        <p:nvSpPr>
          <p:cNvPr id="5" name="Rounded Rectangle 4"/>
          <p:cNvSpPr/>
          <p:nvPr/>
        </p:nvSpPr>
        <p:spPr>
          <a:xfrm>
            <a:off x="8001000" y="1508760"/>
            <a:ext cx="3474720" cy="3474720"/>
          </a:xfrm>
          <a:prstGeom prst="roundRect">
            <a:avLst/>
          </a:prstGeom>
          <a:solidFill>
            <a:srgbClr val="E7EFFC"/>
          </a:solidFill>
          <a:ln>
            <a:solidFill>
              <a:srgbClr val="E7EFFC"/>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Four periods</a:t>
            </a:r>
          </a:p>
          <a:p>
            <a:pPr>
              <a:spcAft>
                <a:spcPts val="300"/>
              </a:spcAft>
            </a:pPr>
            <a:r>
              <a:rPr sz="1500">
                <a:solidFill>
                  <a:srgbClr val="2D3436"/>
                </a:solidFill>
                <a:latin typeface="Aptos"/>
              </a:rPr>
              <a:t>2019 pre-COVID</a:t>
            </a:r>
          </a:p>
          <a:p>
            <a:pPr>
              <a:spcAft>
                <a:spcPts val="300"/>
              </a:spcAft>
            </a:pPr>
            <a:r>
              <a:rPr sz="1500">
                <a:solidFill>
                  <a:srgbClr val="2D3436"/>
                </a:solidFill>
                <a:latin typeface="Aptos"/>
              </a:rPr>
              <a:t>2020 COVID</a:t>
            </a:r>
          </a:p>
          <a:p>
            <a:pPr>
              <a:spcAft>
                <a:spcPts val="300"/>
              </a:spcAft>
            </a:pPr>
            <a:r>
              <a:rPr sz="1500">
                <a:solidFill>
                  <a:srgbClr val="2D3436"/>
                </a:solidFill>
                <a:latin typeface="Aptos"/>
              </a:rPr>
              <a:t>2021-2022 intermediate</a:t>
            </a:r>
          </a:p>
          <a:p>
            <a:pPr>
              <a:spcAft>
                <a:spcPts val="300"/>
              </a:spcAft>
            </a:pPr>
            <a:r>
              <a:rPr sz="1500">
                <a:solidFill>
                  <a:srgbClr val="2D3436"/>
                </a:solidFill>
                <a:latin typeface="Aptos"/>
              </a:rPr>
              <a:t>2023 post-COVID</a:t>
            </a:r>
          </a:p>
        </p:txBody>
      </p:sp>
      <p:sp>
        <p:nvSpPr>
          <p:cNvPr id="6" name="TextBox 5"/>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Dataset Statistics and Period Design</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Harsh | Target time: 1:10</a:t>
            </a:r>
          </a:p>
        </p:txBody>
      </p:sp>
      <p:sp>
        <p:nvSpPr>
          <p:cNvPr id="4" name="TextBox 3"/>
          <p:cNvSpPr txBox="1"/>
          <p:nvPr/>
        </p:nvSpPr>
        <p:spPr>
          <a:xfrm>
            <a:off x="685800" y="1325880"/>
            <a:ext cx="6858000" cy="4937760"/>
          </a:xfrm>
          <a:prstGeom prst="rect">
            <a:avLst/>
          </a:prstGeom>
          <a:noFill/>
        </p:spPr>
        <p:txBody>
          <a:bodyPr wrap="square" lIns="0" rIns="0" tIns="0" bIns="0">
            <a:spAutoFit/>
          </a:bodyPr>
          <a:lstStyle/>
          <a:p>
            <a:pPr>
              <a:spcAft>
                <a:spcPts val="700"/>
              </a:spcAft>
            </a:pPr>
            <a:r>
              <a:rPr sz="2000">
                <a:solidFill>
                  <a:srgbClr val="2D3436"/>
                </a:solidFill>
                <a:latin typeface="Aptos"/>
              </a:rPr>
              <a:t>NYC TLC yellow taxi trip records from January 2019 through December 2023</a:t>
            </a:r>
          </a:p>
          <a:p>
            <a:pPr>
              <a:spcAft>
                <a:spcPts val="700"/>
              </a:spcAft>
            </a:pPr>
            <a:r>
              <a:rPr sz="2000">
                <a:solidFill>
                  <a:srgbClr val="2D3436"/>
                </a:solidFill>
                <a:latin typeface="Aptos"/>
              </a:rPr>
              <a:t>60 monthly parquet files plus the taxi zone lookup table</a:t>
            </a:r>
          </a:p>
          <a:p>
            <a:pPr>
              <a:spcAft>
                <a:spcPts val="700"/>
              </a:spcAft>
            </a:pPr>
            <a:r>
              <a:rPr sz="2000">
                <a:solidFill>
                  <a:srgbClr val="2D3436"/>
                </a:solidFill>
                <a:latin typeface="Aptos"/>
              </a:rPr>
              <a:t>218,118,168 total yellow taxi trips in the study window</a:t>
            </a:r>
          </a:p>
          <a:p>
            <a:pPr>
              <a:spcAft>
                <a:spcPts val="700"/>
              </a:spcAft>
            </a:pPr>
            <a:r>
              <a:rPr sz="2000">
                <a:solidFill>
                  <a:srgbClr val="2D3436"/>
                </a:solidFill>
                <a:latin typeface="Aptos"/>
              </a:rPr>
              <a:t>Key fields: timestamps, fare, tip, payment type, passenger count, trip distance, pickup and dropoff zones</a:t>
            </a:r>
          </a:p>
          <a:p>
            <a:pPr>
              <a:spcAft>
                <a:spcPts val="700"/>
              </a:spcAft>
            </a:pPr>
            <a:r>
              <a:rPr sz="2000">
                <a:solidFill>
                  <a:srgbClr val="2D3436"/>
                </a:solidFill>
                <a:latin typeface="Aptos"/>
              </a:rPr>
              <a:t>Four periods: pre-COVID, COVID, intermediate recovery, post-COVID</a:t>
            </a:r>
          </a:p>
        </p:txBody>
      </p:sp>
      <p:sp>
        <p:nvSpPr>
          <p:cNvPr id="5" name="Rounded Rectangle 4"/>
          <p:cNvSpPr/>
          <p:nvPr/>
        </p:nvSpPr>
        <p:spPr>
          <a:xfrm>
            <a:off x="8001000" y="1508760"/>
            <a:ext cx="3474720" cy="3474720"/>
          </a:xfrm>
          <a:prstGeom prst="roundRect">
            <a:avLst/>
          </a:prstGeom>
          <a:solidFill>
            <a:srgbClr val="FBF5E2"/>
          </a:solidFill>
          <a:ln>
            <a:solidFill>
              <a:srgbClr val="FBF5E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Why 2021-2022 matters</a:t>
            </a:r>
          </a:p>
          <a:p>
            <a:pPr>
              <a:spcAft>
                <a:spcPts val="300"/>
              </a:spcAft>
            </a:pPr>
            <a:r>
              <a:rPr sz="1500">
                <a:solidFill>
                  <a:srgbClr val="2D3436"/>
                </a:solidFill>
                <a:latin typeface="Aptos"/>
              </a:rPr>
              <a:t>Captures uneven reopening</a:t>
            </a:r>
          </a:p>
          <a:p>
            <a:pPr>
              <a:spcAft>
                <a:spcPts val="300"/>
              </a:spcAft>
            </a:pPr>
            <a:r>
              <a:rPr sz="1500">
                <a:solidFill>
                  <a:srgbClr val="2D3436"/>
                </a:solidFill>
                <a:latin typeface="Aptos"/>
              </a:rPr>
              <a:t>Prevents a misleading jump from 2020 straight to 2023</a:t>
            </a:r>
          </a:p>
        </p:txBody>
      </p:sp>
      <p:sp>
        <p:nvSpPr>
          <p:cNvPr id="6" name="TextBox 5"/>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Shared Workflow and Methodology</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Harsh | Target time: 1:10</a:t>
            </a:r>
          </a:p>
        </p:txBody>
      </p:sp>
      <p:sp>
        <p:nvSpPr>
          <p:cNvPr id="4" name="TextBox 3"/>
          <p:cNvSpPr txBox="1"/>
          <p:nvPr/>
        </p:nvSpPr>
        <p:spPr>
          <a:xfrm>
            <a:off x="685800" y="1325880"/>
            <a:ext cx="6858000" cy="4937760"/>
          </a:xfrm>
          <a:prstGeom prst="rect">
            <a:avLst/>
          </a:prstGeom>
          <a:noFill/>
        </p:spPr>
        <p:txBody>
          <a:bodyPr wrap="square" lIns="0" rIns="0" tIns="0" bIns="0">
            <a:spAutoFit/>
          </a:bodyPr>
          <a:lstStyle/>
          <a:p>
            <a:pPr>
              <a:spcAft>
                <a:spcPts val="700"/>
              </a:spcAft>
            </a:pPr>
            <a:r>
              <a:rPr sz="2000">
                <a:solidFill>
                  <a:srgbClr val="2D3436"/>
                </a:solidFill>
                <a:latin typeface="Aptos"/>
              </a:rPr>
              <a:t>Local TLC parquet files are queried through a shared DuckDB layer</a:t>
            </a:r>
          </a:p>
          <a:p>
            <a:pPr>
              <a:spcAft>
                <a:spcPts val="700"/>
              </a:spcAft>
            </a:pPr>
            <a:r>
              <a:rPr sz="2000">
                <a:solidFill>
                  <a:srgbClr val="2D3436"/>
                </a:solidFill>
                <a:latin typeface="Aptos"/>
              </a:rPr>
              <a:t>`query_taxi_duckdb.py` assigns the common period labels and builds reproducible summaries</a:t>
            </a:r>
          </a:p>
          <a:p>
            <a:pPr>
              <a:spcAft>
                <a:spcPts val="700"/>
              </a:spcAft>
            </a:pPr>
            <a:r>
              <a:rPr sz="2000">
                <a:solidFill>
                  <a:srgbClr val="2D3436"/>
                </a:solidFill>
                <a:latin typeface="Aptos"/>
              </a:rPr>
              <a:t>RQ1 filters to valid credit-card trips</a:t>
            </a:r>
          </a:p>
          <a:p>
            <a:pPr>
              <a:spcAft>
                <a:spcPts val="700"/>
              </a:spcAft>
            </a:pPr>
            <a:r>
              <a:rPr sz="2000">
                <a:solidFill>
                  <a:srgbClr val="2D3436"/>
                </a:solidFill>
                <a:latin typeface="Aptos"/>
              </a:rPr>
              <a:t>RQ2 identifies airport-linked trips and estimates a monthly panel regression</a:t>
            </a:r>
          </a:p>
          <a:p>
            <a:pPr>
              <a:spcAft>
                <a:spcPts val="700"/>
              </a:spcAft>
            </a:pPr>
            <a:r>
              <a:rPr sz="2000">
                <a:solidFill>
                  <a:srgbClr val="2D3436"/>
                </a:solidFill>
                <a:latin typeface="Aptos"/>
              </a:rPr>
              <a:t>RQ3 groups payment types and adds a held-out ML evaluation</a:t>
            </a:r>
          </a:p>
        </p:txBody>
      </p:sp>
      <p:sp>
        <p:nvSpPr>
          <p:cNvPr id="5" name="Rounded Rectangle 4"/>
          <p:cNvSpPr/>
          <p:nvPr/>
        </p:nvSpPr>
        <p:spPr>
          <a:xfrm>
            <a:off x="8001000" y="1508760"/>
            <a:ext cx="3474720" cy="3474720"/>
          </a:xfrm>
          <a:prstGeom prst="roundRect">
            <a:avLst/>
          </a:prstGeom>
          <a:solidFill>
            <a:srgbClr val="E7EFFC"/>
          </a:solidFill>
          <a:ln>
            <a:solidFill>
              <a:srgbClr val="E7EFFC"/>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Pipeline</a:t>
            </a:r>
          </a:p>
          <a:p>
            <a:pPr>
              <a:spcAft>
                <a:spcPts val="300"/>
              </a:spcAft>
            </a:pPr>
            <a:r>
              <a:rPr sz="1500">
                <a:solidFill>
                  <a:srgbClr val="2D3436"/>
                </a:solidFill>
                <a:latin typeface="Aptos"/>
              </a:rPr>
              <a:t>Preprocess</a:t>
            </a:r>
          </a:p>
          <a:p>
            <a:pPr>
              <a:spcAft>
                <a:spcPts val="300"/>
              </a:spcAft>
            </a:pPr>
            <a:r>
              <a:rPr sz="1500">
                <a:solidFill>
                  <a:srgbClr val="2D3436"/>
                </a:solidFill>
                <a:latin typeface="Aptos"/>
              </a:rPr>
              <a:t>Question-specific filtering</a:t>
            </a:r>
          </a:p>
          <a:p>
            <a:pPr>
              <a:spcAft>
                <a:spcPts val="300"/>
              </a:spcAft>
            </a:pPr>
            <a:r>
              <a:rPr sz="1500">
                <a:solidFill>
                  <a:srgbClr val="2D3436"/>
                </a:solidFill>
                <a:latin typeface="Aptos"/>
              </a:rPr>
              <a:t>Summaries and models</a:t>
            </a:r>
          </a:p>
          <a:p>
            <a:pPr>
              <a:spcAft>
                <a:spcPts val="300"/>
              </a:spcAft>
            </a:pPr>
            <a:r>
              <a:rPr sz="1500">
                <a:solidFill>
                  <a:srgbClr val="2D3436"/>
                </a:solidFill>
                <a:latin typeface="Aptos"/>
              </a:rPr>
              <a:t>Figure generation</a:t>
            </a:r>
          </a:p>
        </p:txBody>
      </p:sp>
      <p:sp>
        <p:nvSpPr>
          <p:cNvPr id="6" name="TextBox 5"/>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RQ1: Tipping Behavior</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Harsh | Target time: 1:20</a:t>
            </a:r>
          </a:p>
        </p:txBody>
      </p:sp>
      <p:sp>
        <p:nvSpPr>
          <p:cNvPr id="4" name="TextBox 3"/>
          <p:cNvSpPr txBox="1"/>
          <p:nvPr/>
        </p:nvSpPr>
        <p:spPr>
          <a:xfrm>
            <a:off x="685800" y="1234440"/>
            <a:ext cx="3657600" cy="2377440"/>
          </a:xfrm>
          <a:prstGeom prst="rect">
            <a:avLst/>
          </a:prstGeom>
          <a:noFill/>
        </p:spPr>
        <p:txBody>
          <a:bodyPr wrap="square" lIns="0" rIns="0" tIns="0" bIns="0">
            <a:spAutoFit/>
          </a:bodyPr>
          <a:lstStyle/>
          <a:p>
            <a:pPr>
              <a:spcAft>
                <a:spcPts val="700"/>
              </a:spcAft>
            </a:pPr>
            <a:r>
              <a:rPr sz="1800">
                <a:solidFill>
                  <a:srgbClr val="2D3436"/>
                </a:solidFill>
                <a:latin typeface="Aptos"/>
              </a:rPr>
              <a:t>Credit-card trips only, because cash tips are not fully observed</a:t>
            </a:r>
          </a:p>
          <a:p>
            <a:pPr>
              <a:spcAft>
                <a:spcPts val="700"/>
              </a:spcAft>
            </a:pPr>
            <a:r>
              <a:rPr sz="1800">
                <a:solidFill>
                  <a:srgbClr val="2D3436"/>
                </a:solidFill>
                <a:latin typeface="Aptos"/>
              </a:rPr>
              <a:t>2019 baseline: 22.57%</a:t>
            </a:r>
          </a:p>
          <a:p>
            <a:pPr>
              <a:spcAft>
                <a:spcPts val="700"/>
              </a:spcAft>
            </a:pPr>
            <a:r>
              <a:rPr sz="1800">
                <a:solidFill>
                  <a:srgbClr val="2D3436"/>
                </a:solidFill>
                <a:latin typeface="Aptos"/>
              </a:rPr>
              <a:t>COVID: 23.34% | Intermediate: 23.35% | Post-COVID: 22.19%</a:t>
            </a:r>
          </a:p>
        </p:txBody>
      </p:sp>
      <p:sp>
        <p:nvSpPr>
          <p:cNvPr id="5" name="Rounded Rectangle 4"/>
          <p:cNvSpPr/>
          <p:nvPr/>
        </p:nvSpPr>
        <p:spPr>
          <a:xfrm>
            <a:off x="713232" y="3840480"/>
            <a:ext cx="3657600" cy="1828800"/>
          </a:xfrm>
          <a:prstGeom prst="roundRect">
            <a:avLst/>
          </a:prstGeom>
          <a:solidFill>
            <a:srgbClr val="FBF5E2"/>
          </a:solidFill>
          <a:ln>
            <a:solidFill>
              <a:srgbClr val="FBF5E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Change vs. baseline</a:t>
            </a:r>
          </a:p>
          <a:p>
            <a:pPr>
              <a:spcAft>
                <a:spcPts val="300"/>
              </a:spcAft>
            </a:pPr>
            <a:r>
              <a:rPr sz="1500">
                <a:solidFill>
                  <a:srgbClr val="2D3436"/>
                </a:solidFill>
                <a:latin typeface="Aptos"/>
              </a:rPr>
              <a:t>COVID: +0.764 pp</a:t>
            </a:r>
          </a:p>
          <a:p>
            <a:pPr>
              <a:spcAft>
                <a:spcPts val="300"/>
              </a:spcAft>
            </a:pPr>
            <a:r>
              <a:rPr sz="1500">
                <a:solidFill>
                  <a:srgbClr val="2D3436"/>
                </a:solidFill>
                <a:latin typeface="Aptos"/>
              </a:rPr>
              <a:t>Intermediate: +0.775 pp</a:t>
            </a:r>
          </a:p>
          <a:p>
            <a:pPr>
              <a:spcAft>
                <a:spcPts val="300"/>
              </a:spcAft>
            </a:pPr>
            <a:r>
              <a:rPr sz="1500">
                <a:solidFill>
                  <a:srgbClr val="2D3436"/>
                </a:solidFill>
                <a:latin typeface="Aptos"/>
              </a:rPr>
              <a:t>Post-COVID: -0.388 pp</a:t>
            </a:r>
          </a:p>
        </p:txBody>
      </p:sp>
      <p:pic>
        <p:nvPicPr>
          <p:cNvPr id="6" name="Picture 5" descr="monthly_tipping_trend.png"/>
          <p:cNvPicPr>
            <a:picLocks noChangeAspect="1"/>
          </p:cNvPicPr>
          <p:nvPr/>
        </p:nvPicPr>
        <p:blipFill>
          <a:blip r:embed="rId2"/>
          <a:stretch>
            <a:fillRect/>
          </a:stretch>
        </p:blipFill>
        <p:spPr>
          <a:xfrm>
            <a:off x="4572000" y="1261872"/>
            <a:ext cx="3520440" cy="1760220"/>
          </a:xfrm>
          <a:prstGeom prst="rect">
            <a:avLst/>
          </a:prstGeom>
        </p:spPr>
      </p:pic>
      <p:pic>
        <p:nvPicPr>
          <p:cNvPr id="7" name="Picture 6" descr="period_tipping_change.png"/>
          <p:cNvPicPr>
            <a:picLocks noChangeAspect="1"/>
          </p:cNvPicPr>
          <p:nvPr/>
        </p:nvPicPr>
        <p:blipFill>
          <a:blip r:embed="rId3"/>
          <a:stretch>
            <a:fillRect/>
          </a:stretch>
        </p:blipFill>
        <p:spPr>
          <a:xfrm>
            <a:off x="8183879" y="1261872"/>
            <a:ext cx="3520440" cy="2112264"/>
          </a:xfrm>
          <a:prstGeom prst="rect">
            <a:avLst/>
          </a:prstGeom>
        </p:spPr>
      </p:pic>
      <p:sp>
        <p:nvSpPr>
          <p:cNvPr id="8" name="TextBox 7"/>
          <p:cNvSpPr txBox="1"/>
          <p:nvPr/>
        </p:nvSpPr>
        <p:spPr>
          <a:xfrm>
            <a:off x="4617720" y="4526280"/>
            <a:ext cx="3429000" cy="548640"/>
          </a:xfrm>
          <a:prstGeom prst="rect">
            <a:avLst/>
          </a:prstGeom>
          <a:noFill/>
        </p:spPr>
        <p:txBody>
          <a:bodyPr wrap="none">
            <a:spAutoFit/>
          </a:bodyPr>
          <a:lstStyle/>
          <a:p>
            <a:pPr algn="ctr"/>
            <a:r>
              <a:rPr sz="1200">
                <a:solidFill>
                  <a:srgbClr val="6E757E"/>
                </a:solidFill>
                <a:latin typeface="Aptos"/>
              </a:rPr>
              <a:t>Monthly average tip percentage on credit-card trips</a:t>
            </a:r>
          </a:p>
        </p:txBody>
      </p:sp>
      <p:sp>
        <p:nvSpPr>
          <p:cNvPr id="9" name="TextBox 8"/>
          <p:cNvSpPr txBox="1"/>
          <p:nvPr/>
        </p:nvSpPr>
        <p:spPr>
          <a:xfrm>
            <a:off x="8229600" y="4526280"/>
            <a:ext cx="3429000" cy="548640"/>
          </a:xfrm>
          <a:prstGeom prst="rect">
            <a:avLst/>
          </a:prstGeom>
          <a:noFill/>
        </p:spPr>
        <p:txBody>
          <a:bodyPr wrap="none">
            <a:spAutoFit/>
          </a:bodyPr>
          <a:lstStyle/>
          <a:p>
            <a:pPr algn="ctr"/>
            <a:r>
              <a:rPr sz="1200">
                <a:solidFill>
                  <a:srgbClr val="6E757E"/>
                </a:solidFill>
                <a:latin typeface="Aptos"/>
              </a:rPr>
              <a:t>Change in tip percentage versus the 2019 baseline</a:t>
            </a:r>
          </a:p>
        </p:txBody>
      </p:sp>
      <p:sp>
        <p:nvSpPr>
          <p:cNvPr id="10" name="TextBox 9"/>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RQ2: Airport Recovery Descriptively</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Adam | Target time: 1:30</a:t>
            </a:r>
          </a:p>
        </p:txBody>
      </p:sp>
      <p:sp>
        <p:nvSpPr>
          <p:cNvPr id="4" name="TextBox 3"/>
          <p:cNvSpPr txBox="1"/>
          <p:nvPr/>
        </p:nvSpPr>
        <p:spPr>
          <a:xfrm>
            <a:off x="685800" y="1234440"/>
            <a:ext cx="3657600" cy="2377440"/>
          </a:xfrm>
          <a:prstGeom prst="rect">
            <a:avLst/>
          </a:prstGeom>
          <a:noFill/>
        </p:spPr>
        <p:txBody>
          <a:bodyPr wrap="square" lIns="0" rIns="0" tIns="0" bIns="0">
            <a:spAutoFit/>
          </a:bodyPr>
          <a:lstStyle/>
          <a:p>
            <a:pPr>
              <a:spcAft>
                <a:spcPts val="700"/>
              </a:spcAft>
            </a:pPr>
            <a:r>
              <a:rPr sz="1800">
                <a:solidFill>
                  <a:srgbClr val="2D3436"/>
                </a:solidFill>
                <a:latin typeface="Aptos"/>
              </a:rPr>
              <a:t>Sharpened question: did JFK and LaGuardia recover differently?</a:t>
            </a:r>
          </a:p>
          <a:p>
            <a:pPr>
              <a:spcAft>
                <a:spcPts val="700"/>
              </a:spcAft>
            </a:pPr>
            <a:r>
              <a:rPr sz="1800">
                <a:solidFill>
                  <a:srgbClr val="2D3436"/>
                </a:solidFill>
                <a:latin typeface="Aptos"/>
              </a:rPr>
              <a:t>Both airports collapsed in 2020</a:t>
            </a:r>
          </a:p>
          <a:p>
            <a:pPr>
              <a:spcAft>
                <a:spcPts val="700"/>
              </a:spcAft>
            </a:pPr>
            <a:r>
              <a:rPr sz="1800">
                <a:solidFill>
                  <a:srgbClr val="2D3436"/>
                </a:solidFill>
                <a:latin typeface="Aptos"/>
              </a:rPr>
              <a:t>JFK recovered more strongly in counts and system share</a:t>
            </a:r>
          </a:p>
        </p:txBody>
      </p:sp>
      <p:sp>
        <p:nvSpPr>
          <p:cNvPr id="5" name="Rounded Rectangle 4"/>
          <p:cNvSpPr/>
          <p:nvPr/>
        </p:nvSpPr>
        <p:spPr>
          <a:xfrm>
            <a:off x="713232" y="3840480"/>
            <a:ext cx="3657600" cy="1828800"/>
          </a:xfrm>
          <a:prstGeom prst="roundRect">
            <a:avLst/>
          </a:prstGeom>
          <a:solidFill>
            <a:srgbClr val="E7EFFC"/>
          </a:solidFill>
          <a:ln>
            <a:solidFill>
              <a:srgbClr val="E7EFFC"/>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2023 recovery index</a:t>
            </a:r>
          </a:p>
          <a:p>
            <a:pPr>
              <a:spcAft>
                <a:spcPts val="300"/>
              </a:spcAft>
            </a:pPr>
            <a:r>
              <a:rPr sz="1500">
                <a:solidFill>
                  <a:srgbClr val="2D3436"/>
                </a:solidFill>
                <a:latin typeface="Aptos"/>
              </a:rPr>
              <a:t>JFK: 0.704</a:t>
            </a:r>
          </a:p>
          <a:p>
            <a:pPr>
              <a:spcAft>
                <a:spcPts val="300"/>
              </a:spcAft>
            </a:pPr>
            <a:r>
              <a:rPr sz="1500">
                <a:solidFill>
                  <a:srgbClr val="2D3436"/>
                </a:solidFill>
                <a:latin typeface="Aptos"/>
              </a:rPr>
              <a:t>LaGuardia: 0.577</a:t>
            </a:r>
          </a:p>
        </p:txBody>
      </p:sp>
      <p:pic>
        <p:nvPicPr>
          <p:cNvPr id="6" name="Picture 5" descr="monthly_airport_trip_counts.png"/>
          <p:cNvPicPr>
            <a:picLocks noChangeAspect="1"/>
          </p:cNvPicPr>
          <p:nvPr/>
        </p:nvPicPr>
        <p:blipFill>
          <a:blip r:embed="rId2"/>
          <a:stretch>
            <a:fillRect/>
          </a:stretch>
        </p:blipFill>
        <p:spPr>
          <a:xfrm>
            <a:off x="4572000" y="1261872"/>
            <a:ext cx="3520440" cy="1760220"/>
          </a:xfrm>
          <a:prstGeom prst="rect">
            <a:avLst/>
          </a:prstGeom>
        </p:spPr>
      </p:pic>
      <p:pic>
        <p:nvPicPr>
          <p:cNvPr id="7" name="Picture 6" descr="monthly_airport_trip_share.png"/>
          <p:cNvPicPr>
            <a:picLocks noChangeAspect="1"/>
          </p:cNvPicPr>
          <p:nvPr/>
        </p:nvPicPr>
        <p:blipFill>
          <a:blip r:embed="rId3"/>
          <a:stretch>
            <a:fillRect/>
          </a:stretch>
        </p:blipFill>
        <p:spPr>
          <a:xfrm>
            <a:off x="8183879" y="1261872"/>
            <a:ext cx="3520440" cy="1760220"/>
          </a:xfrm>
          <a:prstGeom prst="rect">
            <a:avLst/>
          </a:prstGeom>
        </p:spPr>
      </p:pic>
      <p:sp>
        <p:nvSpPr>
          <p:cNvPr id="8" name="TextBox 7"/>
          <p:cNvSpPr txBox="1"/>
          <p:nvPr/>
        </p:nvSpPr>
        <p:spPr>
          <a:xfrm>
            <a:off x="4617720" y="4526280"/>
            <a:ext cx="3429000" cy="548640"/>
          </a:xfrm>
          <a:prstGeom prst="rect">
            <a:avLst/>
          </a:prstGeom>
          <a:noFill/>
        </p:spPr>
        <p:txBody>
          <a:bodyPr wrap="none">
            <a:spAutoFit/>
          </a:bodyPr>
          <a:lstStyle/>
          <a:p>
            <a:pPr algn="ctr"/>
            <a:r>
              <a:rPr sz="1200">
                <a:solidFill>
                  <a:srgbClr val="6E757E"/>
                </a:solidFill>
                <a:latin typeface="Aptos"/>
              </a:rPr>
              <a:t>Monthly airport-related yellow taxi trip counts</a:t>
            </a:r>
          </a:p>
        </p:txBody>
      </p:sp>
      <p:sp>
        <p:nvSpPr>
          <p:cNvPr id="9" name="TextBox 8"/>
          <p:cNvSpPr txBox="1"/>
          <p:nvPr/>
        </p:nvSpPr>
        <p:spPr>
          <a:xfrm>
            <a:off x="8229600" y="4526280"/>
            <a:ext cx="3429000" cy="548640"/>
          </a:xfrm>
          <a:prstGeom prst="rect">
            <a:avLst/>
          </a:prstGeom>
          <a:noFill/>
        </p:spPr>
        <p:txBody>
          <a:bodyPr wrap="none">
            <a:spAutoFit/>
          </a:bodyPr>
          <a:lstStyle/>
          <a:p>
            <a:pPr algn="ctr"/>
            <a:r>
              <a:rPr sz="1200">
                <a:solidFill>
                  <a:srgbClr val="6E757E"/>
                </a:solidFill>
                <a:latin typeface="Aptos"/>
              </a:rPr>
              <a:t>Airport trips as a share of all yellow taxi trips</a:t>
            </a:r>
          </a:p>
        </p:txBody>
      </p:sp>
      <p:sp>
        <p:nvSpPr>
          <p:cNvPr id="10" name="TextBox 9"/>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RQ2: Regression Evidence</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Presenters: Adam then Chris | Target time: 1:20</a:t>
            </a:r>
          </a:p>
        </p:txBody>
      </p:sp>
      <p:pic>
        <p:nvPicPr>
          <p:cNvPr id="4" name="Picture 3" descr="airport_regression_interactions.png"/>
          <p:cNvPicPr>
            <a:picLocks noChangeAspect="1"/>
          </p:cNvPicPr>
          <p:nvPr/>
        </p:nvPicPr>
        <p:blipFill>
          <a:blip r:embed="rId2"/>
          <a:stretch>
            <a:fillRect/>
          </a:stretch>
        </p:blipFill>
        <p:spPr>
          <a:xfrm>
            <a:off x="5486400" y="1234440"/>
            <a:ext cx="5943600" cy="2743200"/>
          </a:xfrm>
          <a:prstGeom prst="rect">
            <a:avLst/>
          </a:prstGeom>
        </p:spPr>
      </p:pic>
      <p:sp>
        <p:nvSpPr>
          <p:cNvPr id="5" name="TextBox 4"/>
          <p:cNvSpPr txBox="1"/>
          <p:nvPr/>
        </p:nvSpPr>
        <p:spPr>
          <a:xfrm>
            <a:off x="685800" y="1280160"/>
            <a:ext cx="4297680" cy="2468880"/>
          </a:xfrm>
          <a:prstGeom prst="rect">
            <a:avLst/>
          </a:prstGeom>
          <a:noFill/>
        </p:spPr>
        <p:txBody>
          <a:bodyPr wrap="square" lIns="0" rIns="0" tIns="0" bIns="0">
            <a:spAutoFit/>
          </a:bodyPr>
          <a:lstStyle/>
          <a:p>
            <a:pPr>
              <a:spcAft>
                <a:spcPts val="700"/>
              </a:spcAft>
            </a:pPr>
            <a:r>
              <a:rPr sz="1800">
                <a:solidFill>
                  <a:srgbClr val="2D3436"/>
                </a:solidFill>
                <a:latin typeface="Aptos"/>
              </a:rPr>
              <a:t>Monthly airport panel regression</a:t>
            </a:r>
          </a:p>
          <a:p>
            <a:pPr>
              <a:spcAft>
                <a:spcPts val="700"/>
              </a:spcAft>
            </a:pPr>
            <a:r>
              <a:rPr sz="1800">
                <a:solidFill>
                  <a:srgbClr val="2D3436"/>
                </a:solidFill>
                <a:latin typeface="Aptos"/>
              </a:rPr>
              <a:t>LaGuardia and 2019 baseline are the reference categories</a:t>
            </a:r>
          </a:p>
          <a:p>
            <a:pPr>
              <a:spcAft>
                <a:spcPts val="700"/>
              </a:spcAft>
            </a:pPr>
            <a:r>
              <a:rPr sz="1800">
                <a:solidFill>
                  <a:srgbClr val="2D3436"/>
                </a:solidFill>
                <a:latin typeface="Aptos"/>
              </a:rPr>
              <a:t>Key evidence: JFK-by-period interaction terms</a:t>
            </a:r>
          </a:p>
          <a:p>
            <a:pPr>
              <a:spcAft>
                <a:spcPts val="700"/>
              </a:spcAft>
            </a:pPr>
            <a:r>
              <a:rPr sz="1800">
                <a:solidFill>
                  <a:srgbClr val="2D3436"/>
                </a:solidFill>
                <a:latin typeface="Aptos"/>
              </a:rPr>
              <a:t>Positive interactions mean stronger JFK recovery relative to LaGuardia</a:t>
            </a:r>
          </a:p>
        </p:txBody>
      </p:sp>
      <p:sp>
        <p:nvSpPr>
          <p:cNvPr id="6" name="Rounded Rectangle 5"/>
          <p:cNvSpPr/>
          <p:nvPr/>
        </p:nvSpPr>
        <p:spPr>
          <a:xfrm>
            <a:off x="713232" y="3886200"/>
            <a:ext cx="4297680" cy="1600200"/>
          </a:xfrm>
          <a:prstGeom prst="roundRect">
            <a:avLst/>
          </a:prstGeom>
          <a:solidFill>
            <a:srgbClr val="E7EFFC"/>
          </a:solidFill>
          <a:ln>
            <a:solidFill>
              <a:srgbClr val="E7EFFC"/>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Key coefficients</a:t>
            </a:r>
          </a:p>
          <a:p>
            <a:pPr>
              <a:spcAft>
                <a:spcPts val="300"/>
              </a:spcAft>
            </a:pPr>
            <a:r>
              <a:rPr sz="1500">
                <a:solidFill>
                  <a:srgbClr val="2D3436"/>
                </a:solidFill>
                <a:latin typeface="Aptos"/>
              </a:rPr>
              <a:t>JFK x intermediate: +0.0108, p = 0.0031</a:t>
            </a:r>
          </a:p>
          <a:p>
            <a:pPr>
              <a:spcAft>
                <a:spcPts val="300"/>
              </a:spcAft>
            </a:pPr>
            <a:r>
              <a:rPr sz="1500">
                <a:solidFill>
                  <a:srgbClr val="2D3436"/>
                </a:solidFill>
                <a:latin typeface="Aptos"/>
              </a:rPr>
              <a:t>JFK x post-COVID: +0.0125, p &lt; 1e-9</a:t>
            </a:r>
          </a:p>
        </p:txBody>
      </p:sp>
      <p:sp>
        <p:nvSpPr>
          <p:cNvPr id="7" name="TextBox 6"/>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RQ3: Cashless Shift Descriptively</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Chris | Target time: 1:20</a:t>
            </a:r>
          </a:p>
        </p:txBody>
      </p:sp>
      <p:sp>
        <p:nvSpPr>
          <p:cNvPr id="4" name="TextBox 3"/>
          <p:cNvSpPr txBox="1"/>
          <p:nvPr/>
        </p:nvSpPr>
        <p:spPr>
          <a:xfrm>
            <a:off x="685800" y="1234440"/>
            <a:ext cx="3657600" cy="2377440"/>
          </a:xfrm>
          <a:prstGeom prst="rect">
            <a:avLst/>
          </a:prstGeom>
          <a:noFill/>
        </p:spPr>
        <p:txBody>
          <a:bodyPr wrap="square" lIns="0" rIns="0" tIns="0" bIns="0">
            <a:spAutoFit/>
          </a:bodyPr>
          <a:lstStyle/>
          <a:p>
            <a:pPr>
              <a:spcAft>
                <a:spcPts val="700"/>
              </a:spcAft>
            </a:pPr>
            <a:r>
              <a:rPr sz="1800">
                <a:solidFill>
                  <a:srgbClr val="2D3436"/>
                </a:solidFill>
                <a:latin typeface="Aptos"/>
              </a:rPr>
              <a:t>Cashless payment was already common before COVID</a:t>
            </a:r>
          </a:p>
          <a:p>
            <a:pPr>
              <a:spcAft>
                <a:spcPts val="700"/>
              </a:spcAft>
            </a:pPr>
            <a:r>
              <a:rPr sz="1800">
                <a:solidFill>
                  <a:srgbClr val="2D3436"/>
                </a:solidFill>
                <a:latin typeface="Aptos"/>
              </a:rPr>
              <a:t>The real question is acceleration and persistence</a:t>
            </a:r>
          </a:p>
          <a:p>
            <a:pPr>
              <a:spcAft>
                <a:spcPts val="700"/>
              </a:spcAft>
            </a:pPr>
            <a:r>
              <a:rPr sz="1800">
                <a:solidFill>
                  <a:srgbClr val="2D3436"/>
                </a:solidFill>
                <a:latin typeface="Aptos"/>
              </a:rPr>
              <a:t>Known-payment cashless share: 72.59% -&gt; 73.96% -&gt; 78.46% -&gt; 82.34%</a:t>
            </a:r>
          </a:p>
        </p:txBody>
      </p:sp>
      <p:sp>
        <p:nvSpPr>
          <p:cNvPr id="5" name="Rounded Rectangle 4"/>
          <p:cNvSpPr/>
          <p:nvPr/>
        </p:nvSpPr>
        <p:spPr>
          <a:xfrm>
            <a:off x="713232" y="3840480"/>
            <a:ext cx="3657600" cy="1828800"/>
          </a:xfrm>
          <a:prstGeom prst="roundRect">
            <a:avLst/>
          </a:prstGeom>
          <a:solidFill>
            <a:srgbClr val="FCEDED"/>
          </a:solidFill>
          <a:ln>
            <a:solidFill>
              <a:srgbClr val="FCEDE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Change vs. baseline</a:t>
            </a:r>
          </a:p>
          <a:p>
            <a:pPr>
              <a:spcAft>
                <a:spcPts val="300"/>
              </a:spcAft>
            </a:pPr>
            <a:r>
              <a:rPr sz="1500">
                <a:solidFill>
                  <a:srgbClr val="2D3436"/>
                </a:solidFill>
                <a:latin typeface="Aptos"/>
              </a:rPr>
              <a:t>COVID: +1.38 pp</a:t>
            </a:r>
          </a:p>
          <a:p>
            <a:pPr>
              <a:spcAft>
                <a:spcPts val="300"/>
              </a:spcAft>
            </a:pPr>
            <a:r>
              <a:rPr sz="1500">
                <a:solidFill>
                  <a:srgbClr val="2D3436"/>
                </a:solidFill>
                <a:latin typeface="Aptos"/>
              </a:rPr>
              <a:t>Intermediate: +5.87 pp</a:t>
            </a:r>
          </a:p>
          <a:p>
            <a:pPr>
              <a:spcAft>
                <a:spcPts val="300"/>
              </a:spcAft>
            </a:pPr>
            <a:r>
              <a:rPr sz="1500">
                <a:solidFill>
                  <a:srgbClr val="2D3436"/>
                </a:solidFill>
                <a:latin typeface="Aptos"/>
              </a:rPr>
              <a:t>Post-COVID: +9.75 pp</a:t>
            </a:r>
          </a:p>
        </p:txBody>
      </p:sp>
      <p:pic>
        <p:nvPicPr>
          <p:cNvPr id="6" name="Picture 5" descr="monthly_cashless_share.png"/>
          <p:cNvPicPr>
            <a:picLocks noChangeAspect="1"/>
          </p:cNvPicPr>
          <p:nvPr/>
        </p:nvPicPr>
        <p:blipFill>
          <a:blip r:embed="rId2"/>
          <a:stretch>
            <a:fillRect/>
          </a:stretch>
        </p:blipFill>
        <p:spPr>
          <a:xfrm>
            <a:off x="4572000" y="1261872"/>
            <a:ext cx="3520440" cy="1760220"/>
          </a:xfrm>
          <a:prstGeom prst="rect">
            <a:avLst/>
          </a:prstGeom>
        </p:spPr>
      </p:pic>
      <p:pic>
        <p:nvPicPr>
          <p:cNvPr id="7" name="Picture 6" descr="period_payment_mix.png"/>
          <p:cNvPicPr>
            <a:picLocks noChangeAspect="1"/>
          </p:cNvPicPr>
          <p:nvPr/>
        </p:nvPicPr>
        <p:blipFill>
          <a:blip r:embed="rId3"/>
          <a:stretch>
            <a:fillRect/>
          </a:stretch>
        </p:blipFill>
        <p:spPr>
          <a:xfrm>
            <a:off x="8183879" y="1261872"/>
            <a:ext cx="3520440" cy="2112264"/>
          </a:xfrm>
          <a:prstGeom prst="rect">
            <a:avLst/>
          </a:prstGeom>
        </p:spPr>
      </p:pic>
      <p:sp>
        <p:nvSpPr>
          <p:cNvPr id="8" name="TextBox 7"/>
          <p:cNvSpPr txBox="1"/>
          <p:nvPr/>
        </p:nvSpPr>
        <p:spPr>
          <a:xfrm>
            <a:off x="4617720" y="4526280"/>
            <a:ext cx="3429000" cy="548640"/>
          </a:xfrm>
          <a:prstGeom prst="rect">
            <a:avLst/>
          </a:prstGeom>
          <a:noFill/>
        </p:spPr>
        <p:txBody>
          <a:bodyPr wrap="none">
            <a:spAutoFit/>
          </a:bodyPr>
          <a:lstStyle/>
          <a:p>
            <a:pPr algn="ctr"/>
            <a:r>
              <a:rPr sz="1200">
                <a:solidFill>
                  <a:srgbClr val="6E757E"/>
                </a:solidFill>
                <a:latin typeface="Aptos"/>
              </a:rPr>
              <a:t>Monthly cashless share</a:t>
            </a:r>
          </a:p>
        </p:txBody>
      </p:sp>
      <p:sp>
        <p:nvSpPr>
          <p:cNvPr id="9" name="TextBox 8"/>
          <p:cNvSpPr txBox="1"/>
          <p:nvPr/>
        </p:nvSpPr>
        <p:spPr>
          <a:xfrm>
            <a:off x="8229600" y="4526280"/>
            <a:ext cx="3429000" cy="548640"/>
          </a:xfrm>
          <a:prstGeom prst="rect">
            <a:avLst/>
          </a:prstGeom>
          <a:noFill/>
        </p:spPr>
        <p:txBody>
          <a:bodyPr wrap="none">
            <a:spAutoFit/>
          </a:bodyPr>
          <a:lstStyle/>
          <a:p>
            <a:pPr algn="ctr"/>
            <a:r>
              <a:rPr sz="1200">
                <a:solidFill>
                  <a:srgbClr val="6E757E"/>
                </a:solidFill>
                <a:latin typeface="Aptos"/>
              </a:rPr>
              <a:t>Payment mix by project period</a:t>
            </a:r>
          </a:p>
        </p:txBody>
      </p:sp>
      <p:sp>
        <p:nvSpPr>
          <p:cNvPr id="10" name="TextBox 9"/>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RQ3: Model-Based Evaluation</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Presenters: Harsh then Chris | Target time: 1:25</a:t>
            </a:r>
          </a:p>
        </p:txBody>
      </p:sp>
      <p:pic>
        <p:nvPicPr>
          <p:cNvPr id="4" name="Picture 3" descr="cashless_model_metric_comparison.png"/>
          <p:cNvPicPr>
            <a:picLocks noChangeAspect="1"/>
          </p:cNvPicPr>
          <p:nvPr/>
        </p:nvPicPr>
        <p:blipFill>
          <a:blip r:embed="rId2"/>
          <a:stretch>
            <a:fillRect/>
          </a:stretch>
        </p:blipFill>
        <p:spPr>
          <a:xfrm>
            <a:off x="5303520" y="1234440"/>
            <a:ext cx="2926080" cy="1596044"/>
          </a:xfrm>
          <a:prstGeom prst="rect">
            <a:avLst/>
          </a:prstGeom>
        </p:spPr>
      </p:pic>
      <p:pic>
        <p:nvPicPr>
          <p:cNvPr id="5" name="Picture 4" descr="cashless_xgboost_feature_importance.png"/>
          <p:cNvPicPr>
            <a:picLocks noChangeAspect="1"/>
          </p:cNvPicPr>
          <p:nvPr/>
        </p:nvPicPr>
        <p:blipFill>
          <a:blip r:embed="rId3"/>
          <a:stretch>
            <a:fillRect/>
          </a:stretch>
        </p:blipFill>
        <p:spPr>
          <a:xfrm>
            <a:off x="8366760" y="1234440"/>
            <a:ext cx="3154680" cy="2208276"/>
          </a:xfrm>
          <a:prstGeom prst="rect">
            <a:avLst/>
          </a:prstGeom>
        </p:spPr>
      </p:pic>
      <p:sp>
        <p:nvSpPr>
          <p:cNvPr id="6" name="TextBox 5"/>
          <p:cNvSpPr txBox="1"/>
          <p:nvPr/>
        </p:nvSpPr>
        <p:spPr>
          <a:xfrm>
            <a:off x="685800" y="1280160"/>
            <a:ext cx="4114800" cy="2286000"/>
          </a:xfrm>
          <a:prstGeom prst="rect">
            <a:avLst/>
          </a:prstGeom>
          <a:noFill/>
        </p:spPr>
        <p:txBody>
          <a:bodyPr wrap="square" lIns="0" rIns="0" tIns="0" bIns="0">
            <a:spAutoFit/>
          </a:bodyPr>
          <a:lstStyle/>
          <a:p>
            <a:pPr>
              <a:spcAft>
                <a:spcPts val="700"/>
              </a:spcAft>
            </a:pPr>
            <a:r>
              <a:rPr sz="1800">
                <a:solidFill>
                  <a:srgbClr val="2D3436"/>
                </a:solidFill>
                <a:latin typeface="Aptos"/>
              </a:rPr>
              <a:t>Known-payment trips only</a:t>
            </a:r>
          </a:p>
          <a:p>
            <a:pPr>
              <a:spcAft>
                <a:spcPts val="700"/>
              </a:spcAft>
            </a:pPr>
            <a:r>
              <a:rPr sz="1800">
                <a:solidFill>
                  <a:srgbClr val="2D3436"/>
                </a:solidFill>
                <a:latin typeface="Aptos"/>
              </a:rPr>
              <a:t>Train before July 2023, test from July 2023 onward</a:t>
            </a:r>
          </a:p>
          <a:p>
            <a:pPr>
              <a:spcAft>
                <a:spcPts val="700"/>
              </a:spcAft>
            </a:pPr>
            <a:r>
              <a:rPr sz="1800">
                <a:solidFill>
                  <a:srgbClr val="2D3436"/>
                </a:solidFill>
                <a:latin typeface="Aptos"/>
              </a:rPr>
              <a:t>Train rows: 513,206 | Test rows: 56,105</a:t>
            </a:r>
          </a:p>
          <a:p>
            <a:pPr>
              <a:spcAft>
                <a:spcPts val="700"/>
              </a:spcAft>
            </a:pPr>
            <a:r>
              <a:rPr sz="1800">
                <a:solidFill>
                  <a:srgbClr val="2D3436"/>
                </a:solidFill>
                <a:latin typeface="Aptos"/>
              </a:rPr>
              <a:t>Compare dummy baseline, logistic regression, and XGBoost</a:t>
            </a:r>
          </a:p>
        </p:txBody>
      </p:sp>
      <p:sp>
        <p:nvSpPr>
          <p:cNvPr id="7" name="Rounded Rectangle 6"/>
          <p:cNvSpPr/>
          <p:nvPr/>
        </p:nvSpPr>
        <p:spPr>
          <a:xfrm>
            <a:off x="713232" y="3794760"/>
            <a:ext cx="4114800" cy="2011680"/>
          </a:xfrm>
          <a:prstGeom prst="roundRect">
            <a:avLst/>
          </a:prstGeom>
          <a:solidFill>
            <a:srgbClr val="FCEDED"/>
          </a:solidFill>
          <a:ln>
            <a:solidFill>
              <a:srgbClr val="FCEDE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ROC-AUC comparison</a:t>
            </a:r>
          </a:p>
          <a:p>
            <a:pPr>
              <a:spcAft>
                <a:spcPts val="300"/>
              </a:spcAft>
            </a:pPr>
            <a:r>
              <a:rPr sz="1500">
                <a:solidFill>
                  <a:srgbClr val="2D3436"/>
                </a:solidFill>
                <a:latin typeface="Aptos"/>
              </a:rPr>
              <a:t>Dummy: 0.500</a:t>
            </a:r>
          </a:p>
          <a:p>
            <a:pPr>
              <a:spcAft>
                <a:spcPts val="300"/>
              </a:spcAft>
            </a:pPr>
            <a:r>
              <a:rPr sz="1500">
                <a:solidFill>
                  <a:srgbClr val="2D3436"/>
                </a:solidFill>
                <a:latin typeface="Aptos"/>
              </a:rPr>
              <a:t>Logistic: 0.581 (+16.25%)</a:t>
            </a:r>
          </a:p>
          <a:p>
            <a:pPr>
              <a:spcAft>
                <a:spcPts val="300"/>
              </a:spcAft>
            </a:pPr>
            <a:r>
              <a:rPr sz="1500">
                <a:solidFill>
                  <a:srgbClr val="2D3436"/>
                </a:solidFill>
                <a:latin typeface="Aptos"/>
              </a:rPr>
              <a:t>XGBoost: 0.638 (+27.54%)</a:t>
            </a:r>
          </a:p>
        </p:txBody>
      </p:sp>
      <p:sp>
        <p:nvSpPr>
          <p:cNvPr id="8" name="TextBox 7"/>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Discussion, What Did Not Work, and Limitations</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Presenters: Adam, Harsh, Chris | Target time: 1:15</a:t>
            </a:r>
          </a:p>
        </p:txBody>
      </p:sp>
      <p:sp>
        <p:nvSpPr>
          <p:cNvPr id="4" name="Rounded Rectangle 3"/>
          <p:cNvSpPr/>
          <p:nvPr/>
        </p:nvSpPr>
        <p:spPr>
          <a:xfrm>
            <a:off x="594360" y="1417320"/>
            <a:ext cx="3246120" cy="3383280"/>
          </a:xfrm>
          <a:prstGeom prst="roundRect">
            <a:avLst/>
          </a:prstGeom>
          <a:solidFill>
            <a:srgbClr val="FBF5E2"/>
          </a:solidFill>
          <a:ln>
            <a:solidFill>
              <a:srgbClr val="FBF5E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RQ1 Revision</a:t>
            </a:r>
          </a:p>
          <a:p>
            <a:pPr>
              <a:spcAft>
                <a:spcPts val="300"/>
              </a:spcAft>
            </a:pPr>
            <a:r>
              <a:rPr sz="1500">
                <a:solidFill>
                  <a:srgbClr val="2D3436"/>
                </a:solidFill>
                <a:latin typeface="Aptos"/>
              </a:rPr>
              <a:t>All-trip tipping was not reliable</a:t>
            </a:r>
          </a:p>
          <a:p>
            <a:pPr>
              <a:spcAft>
                <a:spcPts val="300"/>
              </a:spcAft>
            </a:pPr>
            <a:r>
              <a:rPr sz="1500">
                <a:solidFill>
                  <a:srgbClr val="2D3436"/>
                </a:solidFill>
                <a:latin typeface="Aptos"/>
              </a:rPr>
              <a:t>Cash tips are not fully observed</a:t>
            </a:r>
          </a:p>
          <a:p>
            <a:pPr>
              <a:spcAft>
                <a:spcPts val="300"/>
              </a:spcAft>
            </a:pPr>
            <a:r>
              <a:rPr sz="1500">
                <a:solidFill>
                  <a:srgbClr val="2D3436"/>
                </a:solidFill>
                <a:latin typeface="Aptos"/>
              </a:rPr>
              <a:t>Final choice: credit-card trips only</a:t>
            </a:r>
          </a:p>
        </p:txBody>
      </p:sp>
      <p:sp>
        <p:nvSpPr>
          <p:cNvPr id="5" name="Rounded Rectangle 4"/>
          <p:cNvSpPr/>
          <p:nvPr/>
        </p:nvSpPr>
        <p:spPr>
          <a:xfrm>
            <a:off x="4160520" y="1417320"/>
            <a:ext cx="3246120" cy="3383280"/>
          </a:xfrm>
          <a:prstGeom prst="roundRect">
            <a:avLst/>
          </a:prstGeom>
          <a:solidFill>
            <a:srgbClr val="E7EFFC"/>
          </a:solidFill>
          <a:ln>
            <a:solidFill>
              <a:srgbClr val="E7EFFC"/>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RQ2 Revision</a:t>
            </a:r>
          </a:p>
          <a:p>
            <a:pPr>
              <a:spcAft>
                <a:spcPts val="300"/>
              </a:spcAft>
            </a:pPr>
            <a:r>
              <a:rPr sz="1500">
                <a:solidFill>
                  <a:srgbClr val="2D3436"/>
                </a:solidFill>
                <a:latin typeface="Aptos"/>
              </a:rPr>
              <a:t>Raw airport counts were not enough</a:t>
            </a:r>
          </a:p>
          <a:p>
            <a:pPr>
              <a:spcAft>
                <a:spcPts val="300"/>
              </a:spcAft>
            </a:pPr>
            <a:r>
              <a:rPr sz="1500">
                <a:solidFill>
                  <a:srgbClr val="2D3436"/>
                </a:solidFill>
                <a:latin typeface="Aptos"/>
              </a:rPr>
              <a:t>Overall taxi demand also collapsed</a:t>
            </a:r>
          </a:p>
          <a:p>
            <a:pPr>
              <a:spcAft>
                <a:spcPts val="300"/>
              </a:spcAft>
            </a:pPr>
            <a:r>
              <a:rPr sz="1500">
                <a:solidFill>
                  <a:srgbClr val="2D3436"/>
                </a:solidFill>
                <a:latin typeface="Aptos"/>
              </a:rPr>
              <a:t>Final choice: share-based comparison + robustness checks</a:t>
            </a:r>
          </a:p>
        </p:txBody>
      </p:sp>
      <p:sp>
        <p:nvSpPr>
          <p:cNvPr id="6" name="Rounded Rectangle 5"/>
          <p:cNvSpPr/>
          <p:nvPr/>
        </p:nvSpPr>
        <p:spPr>
          <a:xfrm>
            <a:off x="7726679" y="1417320"/>
            <a:ext cx="3246120" cy="3383280"/>
          </a:xfrm>
          <a:prstGeom prst="roundRect">
            <a:avLst/>
          </a:prstGeom>
          <a:solidFill>
            <a:srgbClr val="FCEDED"/>
          </a:solidFill>
          <a:ln>
            <a:solidFill>
              <a:srgbClr val="FCEDE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RQ3 Revision</a:t>
            </a:r>
          </a:p>
          <a:p>
            <a:pPr>
              <a:spcAft>
                <a:spcPts val="300"/>
              </a:spcAft>
            </a:pPr>
            <a:r>
              <a:rPr sz="1500">
                <a:solidFill>
                  <a:srgbClr val="2D3436"/>
                </a:solidFill>
                <a:latin typeface="Aptos"/>
              </a:rPr>
              <a:t>Raw accuracy separated models poorly</a:t>
            </a:r>
          </a:p>
          <a:p>
            <a:pPr>
              <a:spcAft>
                <a:spcPts val="300"/>
              </a:spcAft>
            </a:pPr>
            <a:r>
              <a:rPr sz="1500">
                <a:solidFill>
                  <a:srgbClr val="2D3436"/>
                </a:solidFill>
                <a:latin typeface="Aptos"/>
              </a:rPr>
              <a:t>The test set is imbalanced toward cashless trips</a:t>
            </a:r>
          </a:p>
          <a:p>
            <a:pPr>
              <a:spcAft>
                <a:spcPts val="300"/>
              </a:spcAft>
            </a:pPr>
            <a:r>
              <a:rPr sz="1500">
                <a:solidFill>
                  <a:srgbClr val="2D3436"/>
                </a:solidFill>
                <a:latin typeface="Aptos"/>
              </a:rPr>
              <a:t>Final choice: emphasize ROC-AUC and average precision</a:t>
            </a:r>
          </a:p>
        </p:txBody>
      </p:sp>
      <p:sp>
        <p:nvSpPr>
          <p:cNvPr id="7" name="Rounded Rectangle 6"/>
          <p:cNvSpPr/>
          <p:nvPr/>
        </p:nvSpPr>
        <p:spPr>
          <a:xfrm>
            <a:off x="640080" y="5166360"/>
            <a:ext cx="10927080" cy="777240"/>
          </a:xfrm>
          <a:prstGeom prst="roundRect">
            <a:avLst/>
          </a:prstGeom>
          <a:solidFill>
            <a:srgbClr val="ECF0F1"/>
          </a:solidFill>
          <a:ln>
            <a:solidFill>
              <a:srgbClr val="ECF0F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a:solidFill>
                  <a:srgbClr val="2D3436"/>
                </a:solidFill>
                <a:latin typeface="Aptos"/>
              </a:rPr>
              <a:t>Broader limitations: yellow taxis only, not all NYC travel; administrative data constraints; comparative evidence rather than causal claims.</a:t>
            </a:r>
          </a:p>
        </p:txBody>
      </p:sp>
      <p:sp>
        <p:nvSpPr>
          <p:cNvPr id="8" name="TextBox 7"/>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Conclusion</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Chris | Target time: 0:40</a:t>
            </a:r>
          </a:p>
        </p:txBody>
      </p:sp>
      <p:sp>
        <p:nvSpPr>
          <p:cNvPr id="4" name="TextBox 3"/>
          <p:cNvSpPr txBox="1"/>
          <p:nvPr/>
        </p:nvSpPr>
        <p:spPr>
          <a:xfrm>
            <a:off x="685800" y="1325880"/>
            <a:ext cx="6858000" cy="4937760"/>
          </a:xfrm>
          <a:prstGeom prst="rect">
            <a:avLst/>
          </a:prstGeom>
          <a:noFill/>
        </p:spPr>
        <p:txBody>
          <a:bodyPr wrap="square" lIns="0" rIns="0" tIns="0" bIns="0">
            <a:spAutoFit/>
          </a:bodyPr>
          <a:lstStyle/>
          <a:p>
            <a:pPr>
              <a:spcAft>
                <a:spcPts val="700"/>
              </a:spcAft>
            </a:pPr>
            <a:r>
              <a:rPr sz="2000">
                <a:solidFill>
                  <a:srgbClr val="2D3436"/>
                </a:solidFill>
                <a:latin typeface="Aptos"/>
              </a:rPr>
              <a:t>COVID changed multiple parts of yellow taxi behavior, but those parts did not recover in the same way</a:t>
            </a:r>
          </a:p>
          <a:p>
            <a:pPr>
              <a:spcAft>
                <a:spcPts val="700"/>
              </a:spcAft>
            </a:pPr>
            <a:r>
              <a:rPr sz="2000">
                <a:solidFill>
                  <a:srgbClr val="2D3436"/>
                </a:solidFill>
                <a:latin typeface="Aptos"/>
              </a:rPr>
              <a:t>Tipping mostly moved back toward baseline by 2023</a:t>
            </a:r>
          </a:p>
          <a:p>
            <a:pPr>
              <a:spcAft>
                <a:spcPts val="700"/>
              </a:spcAft>
            </a:pPr>
            <a:r>
              <a:rPr sz="2000">
                <a:solidFill>
                  <a:srgbClr val="2D3436"/>
                </a:solidFill>
                <a:latin typeface="Aptos"/>
              </a:rPr>
              <a:t>Airport recovery stayed uneven, with stronger JFK recovery</a:t>
            </a:r>
          </a:p>
          <a:p>
            <a:pPr>
              <a:spcAft>
                <a:spcPts val="700"/>
              </a:spcAft>
            </a:pPr>
            <a:r>
              <a:rPr sz="2000">
                <a:solidFill>
                  <a:srgbClr val="2D3436"/>
                </a:solidFill>
                <a:latin typeface="Aptos"/>
              </a:rPr>
              <a:t>Cashless payment adoption continued to strengthen after the initial shock</a:t>
            </a:r>
          </a:p>
        </p:txBody>
      </p:sp>
      <p:sp>
        <p:nvSpPr>
          <p:cNvPr id="5" name="Rounded Rectangle 4"/>
          <p:cNvSpPr/>
          <p:nvPr/>
        </p:nvSpPr>
        <p:spPr>
          <a:xfrm>
            <a:off x="8001000" y="1508760"/>
            <a:ext cx="3474720" cy="3474720"/>
          </a:xfrm>
          <a:prstGeom prst="roundRect">
            <a:avLst/>
          </a:prstGeom>
          <a:solidFill>
            <a:srgbClr val="FBF5E2"/>
          </a:solidFill>
          <a:ln>
            <a:solidFill>
              <a:srgbClr val="FBF5E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Takeaway</a:t>
            </a:r>
          </a:p>
          <a:p>
            <a:pPr>
              <a:spcAft>
                <a:spcPts val="300"/>
              </a:spcAft>
            </a:pPr>
            <a:r>
              <a:rPr sz="1500">
                <a:solidFill>
                  <a:srgbClr val="2D3436"/>
                </a:solidFill>
                <a:latin typeface="Aptos"/>
              </a:rPr>
              <a:t>Different behaviors recovered differently</a:t>
            </a:r>
          </a:p>
          <a:p>
            <a:pPr>
              <a:spcAft>
                <a:spcPts val="300"/>
              </a:spcAft>
            </a:pPr>
            <a:r>
              <a:rPr sz="1500">
                <a:solidFill>
                  <a:srgbClr val="2D3436"/>
                </a:solidFill>
                <a:latin typeface="Aptos"/>
              </a:rPr>
              <a:t>The recovery was not uniform across the taxi system</a:t>
            </a:r>
          </a:p>
        </p:txBody>
      </p:sp>
      <p:sp>
        <p:nvSpPr>
          <p:cNvPr id="6" name="TextBox 5"/>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Backup: RQ2 Coefficient Table</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Backup | Target time: Backup</a:t>
            </a:r>
          </a:p>
        </p:txBody>
      </p:sp>
      <p:sp>
        <p:nvSpPr>
          <p:cNvPr id="4" name="TextBox 3"/>
          <p:cNvSpPr txBox="1"/>
          <p:nvPr/>
        </p:nvSpPr>
        <p:spPr>
          <a:xfrm>
            <a:off x="685800" y="1325880"/>
            <a:ext cx="6858000" cy="4937760"/>
          </a:xfrm>
          <a:prstGeom prst="rect">
            <a:avLst/>
          </a:prstGeom>
          <a:noFill/>
        </p:spPr>
        <p:txBody>
          <a:bodyPr wrap="square" lIns="0" rIns="0" tIns="0" bIns="0">
            <a:spAutoFit/>
          </a:bodyPr>
          <a:lstStyle/>
          <a:p>
            <a:pPr>
              <a:spcAft>
                <a:spcPts val="700"/>
              </a:spcAft>
            </a:pPr>
            <a:r>
              <a:rPr sz="2000">
                <a:solidFill>
                  <a:srgbClr val="2D3436"/>
                </a:solidFill>
                <a:latin typeface="Aptos"/>
              </a:rPr>
              <a:t>JFK x COVID: +0.0005, p = 0.9175</a:t>
            </a:r>
          </a:p>
          <a:p>
            <a:pPr>
              <a:spcAft>
                <a:spcPts val="700"/>
              </a:spcAft>
            </a:pPr>
            <a:r>
              <a:rPr sz="2000">
                <a:solidFill>
                  <a:srgbClr val="2D3436"/>
                </a:solidFill>
                <a:latin typeface="Aptos"/>
              </a:rPr>
              <a:t>JFK x intermediate: +0.0108, p = 0.0031</a:t>
            </a:r>
          </a:p>
          <a:p>
            <a:pPr>
              <a:spcAft>
                <a:spcPts val="700"/>
              </a:spcAft>
            </a:pPr>
            <a:r>
              <a:rPr sz="2000">
                <a:solidFill>
                  <a:srgbClr val="2D3436"/>
                </a:solidFill>
                <a:latin typeface="Aptos"/>
              </a:rPr>
              <a:t>JFK x post-COVID: +0.0125, p &lt; 1e-9</a:t>
            </a:r>
          </a:p>
          <a:p>
            <a:pPr>
              <a:spcAft>
                <a:spcPts val="700"/>
              </a:spcAft>
            </a:pPr>
            <a:r>
              <a:rPr sz="2000">
                <a:solidFill>
                  <a:srgbClr val="2D3436"/>
                </a:solidFill>
                <a:latin typeface="Aptos"/>
              </a:rPr>
              <a:t>Interpretation: later recovery terms are positive and significant, supporting stronger JFK recovery relative to LaGuardia</a:t>
            </a:r>
          </a:p>
        </p:txBody>
      </p:sp>
      <p:sp>
        <p:nvSpPr>
          <p:cNvPr id="5" name="Rounded Rectangle 4"/>
          <p:cNvSpPr/>
          <p:nvPr/>
        </p:nvSpPr>
        <p:spPr>
          <a:xfrm>
            <a:off x="8001000" y="1508760"/>
            <a:ext cx="3474720" cy="3474720"/>
          </a:xfrm>
          <a:prstGeom prst="roundRect">
            <a:avLst/>
          </a:prstGeom>
          <a:solidFill>
            <a:srgbClr val="E7EFFC"/>
          </a:solidFill>
          <a:ln>
            <a:solidFill>
              <a:srgbClr val="E7EFFC"/>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Model reminder</a:t>
            </a:r>
          </a:p>
          <a:p>
            <a:pPr>
              <a:spcAft>
                <a:spcPts val="300"/>
              </a:spcAft>
            </a:pPr>
            <a:r>
              <a:rPr sz="1500">
                <a:solidFill>
                  <a:srgbClr val="2D3436"/>
                </a:solidFill>
                <a:latin typeface="Aptos"/>
              </a:rPr>
              <a:t>Outcome: airport trip share</a:t>
            </a:r>
          </a:p>
          <a:p>
            <a:pPr>
              <a:spcAft>
                <a:spcPts val="300"/>
              </a:spcAft>
            </a:pPr>
            <a:r>
              <a:rPr sz="1500">
                <a:solidFill>
                  <a:srgbClr val="2D3436"/>
                </a:solidFill>
                <a:latin typeface="Aptos"/>
              </a:rPr>
              <a:t>Reference categories: LaGuardia and 2019</a:t>
            </a:r>
          </a:p>
          <a:p>
            <a:pPr>
              <a:spcAft>
                <a:spcPts val="300"/>
              </a:spcAft>
            </a:pPr>
            <a:r>
              <a:rPr sz="1500">
                <a:solidFill>
                  <a:srgbClr val="2D3436"/>
                </a:solidFill>
                <a:latin typeface="Aptos"/>
              </a:rPr>
              <a:t>Month fixed effects included</a:t>
            </a:r>
          </a:p>
        </p:txBody>
      </p:sp>
      <p:sp>
        <p:nvSpPr>
          <p:cNvPr id="6" name="TextBox 5"/>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Backup: RQ3 Full Metrics Table</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Use if asked about evaluation details</a:t>
            </a:r>
          </a:p>
        </p:txBody>
      </p:sp>
      <p:pic>
        <p:nvPicPr>
          <p:cNvPr id="4" name="Picture 3" descr="cashless_model_metric_comparison.png"/>
          <p:cNvPicPr>
            <a:picLocks noChangeAspect="1"/>
          </p:cNvPicPr>
          <p:nvPr/>
        </p:nvPicPr>
        <p:blipFill>
          <a:blip r:embed="rId2"/>
          <a:stretch>
            <a:fillRect/>
          </a:stretch>
        </p:blipFill>
        <p:spPr>
          <a:xfrm>
            <a:off x="731520" y="1325880"/>
            <a:ext cx="5486400" cy="2992582"/>
          </a:xfrm>
          <a:prstGeom prst="rect">
            <a:avLst/>
          </a:prstGeom>
        </p:spPr>
      </p:pic>
      <p:sp>
        <p:nvSpPr>
          <p:cNvPr id="5" name="Rounded Rectangle 4"/>
          <p:cNvSpPr/>
          <p:nvPr/>
        </p:nvSpPr>
        <p:spPr>
          <a:xfrm>
            <a:off x="6492240" y="1463040"/>
            <a:ext cx="4937760" cy="3474720"/>
          </a:xfrm>
          <a:prstGeom prst="roundRect">
            <a:avLst/>
          </a:prstGeom>
          <a:solidFill>
            <a:srgbClr val="FCEDED"/>
          </a:solidFill>
          <a:ln>
            <a:solidFill>
              <a:srgbClr val="FCEDE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Held-out test set</a:t>
            </a:r>
          </a:p>
          <a:p>
            <a:pPr>
              <a:spcAft>
                <a:spcPts val="300"/>
              </a:spcAft>
            </a:pPr>
            <a:r>
              <a:rPr sz="1500">
                <a:solidFill>
                  <a:srgbClr val="2D3436"/>
                </a:solidFill>
                <a:latin typeface="Aptos"/>
              </a:rPr>
              <a:t>Train rows: 513,206</a:t>
            </a:r>
          </a:p>
          <a:p>
            <a:pPr>
              <a:spcAft>
                <a:spcPts val="300"/>
              </a:spcAft>
            </a:pPr>
            <a:r>
              <a:rPr sz="1500">
                <a:solidFill>
                  <a:srgbClr val="2D3436"/>
                </a:solidFill>
                <a:latin typeface="Aptos"/>
              </a:rPr>
              <a:t>Test rows: 56,105</a:t>
            </a:r>
          </a:p>
          <a:p>
            <a:pPr>
              <a:spcAft>
                <a:spcPts val="300"/>
              </a:spcAft>
            </a:pPr>
            <a:r>
              <a:rPr sz="1500">
                <a:solidFill>
                  <a:srgbClr val="2D3436"/>
                </a:solidFill>
                <a:latin typeface="Aptos"/>
              </a:rPr>
              <a:t>Dummy ROC-AUC: 0.500</a:t>
            </a:r>
          </a:p>
          <a:p>
            <a:pPr>
              <a:spcAft>
                <a:spcPts val="300"/>
              </a:spcAft>
            </a:pPr>
            <a:r>
              <a:rPr sz="1500">
                <a:solidFill>
                  <a:srgbClr val="2D3436"/>
                </a:solidFill>
                <a:latin typeface="Aptos"/>
              </a:rPr>
              <a:t>Logistic ROC-AUC: 0.581</a:t>
            </a:r>
          </a:p>
          <a:p>
            <a:pPr>
              <a:spcAft>
                <a:spcPts val="300"/>
              </a:spcAft>
            </a:pPr>
            <a:r>
              <a:rPr sz="1500">
                <a:solidFill>
                  <a:srgbClr val="2D3436"/>
                </a:solidFill>
                <a:latin typeface="Aptos"/>
              </a:rPr>
              <a:t>XGBoost ROC-AUC: 0.638</a:t>
            </a:r>
          </a:p>
        </p:txBody>
      </p:sp>
      <p:sp>
        <p:nvSpPr>
          <p:cNvPr id="6" name="TextBox 5"/>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B"/>
        </a:solidFill>
        <a:effectLst/>
      </p:bgPr>
    </p:bg>
    <p:spTree>
      <p:nvGrpSpPr>
        <p:cNvPr id="1" name=""/>
        <p:cNvGrpSpPr/>
        <p:nvPr/>
      </p:nvGrpSpPr>
      <p:grpSpPr/>
      <p:sp>
        <p:nvSpPr>
          <p:cNvPr id="2" name="TextBox 1"/>
          <p:cNvSpPr txBox="1"/>
          <p:nvPr/>
        </p:nvSpPr>
        <p:spPr>
          <a:xfrm>
            <a:off x="548640" y="320040"/>
            <a:ext cx="8869680" cy="548640"/>
          </a:xfrm>
          <a:prstGeom prst="rect">
            <a:avLst/>
          </a:prstGeom>
          <a:noFill/>
        </p:spPr>
        <p:txBody>
          <a:bodyPr wrap="none">
            <a:spAutoFit/>
          </a:bodyPr>
          <a:lstStyle/>
          <a:p>
            <a:r>
              <a:rPr sz="2700" b="1">
                <a:solidFill>
                  <a:srgbClr val="14213D"/>
                </a:solidFill>
                <a:latin typeface="Aptos Display"/>
              </a:rPr>
              <a:t>Backup: Replication Workflow</a:t>
            </a:r>
          </a:p>
        </p:txBody>
      </p:sp>
      <p:sp>
        <p:nvSpPr>
          <p:cNvPr id="3" name="TextBox 2"/>
          <p:cNvSpPr txBox="1"/>
          <p:nvPr/>
        </p:nvSpPr>
        <p:spPr>
          <a:xfrm>
            <a:off x="566928" y="850392"/>
            <a:ext cx="10789920" cy="320040"/>
          </a:xfrm>
          <a:prstGeom prst="rect">
            <a:avLst/>
          </a:prstGeom>
          <a:noFill/>
        </p:spPr>
        <p:txBody>
          <a:bodyPr wrap="none">
            <a:spAutoFit/>
          </a:bodyPr>
          <a:lstStyle/>
          <a:p>
            <a:r>
              <a:rPr sz="1200">
                <a:solidFill>
                  <a:srgbClr val="6E757E"/>
                </a:solidFill>
                <a:latin typeface="Aptos"/>
              </a:rPr>
              <a:t>Presenter: Backup | Target time: Backup</a:t>
            </a:r>
          </a:p>
        </p:txBody>
      </p:sp>
      <p:sp>
        <p:nvSpPr>
          <p:cNvPr id="4" name="TextBox 3"/>
          <p:cNvSpPr txBox="1"/>
          <p:nvPr/>
        </p:nvSpPr>
        <p:spPr>
          <a:xfrm>
            <a:off x="685800" y="1325880"/>
            <a:ext cx="6858000" cy="4937760"/>
          </a:xfrm>
          <a:prstGeom prst="rect">
            <a:avLst/>
          </a:prstGeom>
          <a:noFill/>
        </p:spPr>
        <p:txBody>
          <a:bodyPr wrap="square" lIns="0" rIns="0" tIns="0" bIns="0">
            <a:spAutoFit/>
          </a:bodyPr>
          <a:lstStyle/>
          <a:p>
            <a:pPr>
              <a:spcAft>
                <a:spcPts val="700"/>
              </a:spcAft>
            </a:pPr>
            <a:r>
              <a:rPr sz="2000">
                <a:solidFill>
                  <a:srgbClr val="2D3436"/>
                </a:solidFill>
                <a:latin typeface="Aptos"/>
              </a:rPr>
              <a:t>The repository uses a shared DuckDB query layer and separate RQ folders</a:t>
            </a:r>
          </a:p>
          <a:p>
            <a:pPr>
              <a:spcAft>
                <a:spcPts val="700"/>
              </a:spcAft>
            </a:pPr>
            <a:r>
              <a:rPr sz="2000">
                <a:solidFill>
                  <a:srgbClr val="2D3436"/>
                </a:solidFill>
                <a:latin typeface="Aptos"/>
              </a:rPr>
              <a:t>Main commands:</a:t>
            </a:r>
          </a:p>
          <a:p>
            <a:pPr lvl="1">
              <a:spcAft>
                <a:spcPts val="700"/>
              </a:spcAft>
            </a:pPr>
            <a:r>
              <a:rPr sz="1900">
                <a:solidFill>
                  <a:srgbClr val="2D3436"/>
                </a:solidFill>
                <a:latin typeface="Aptos"/>
              </a:rPr>
              <a:t>python3 RQ1/tipping_analysis.py</a:t>
            </a:r>
          </a:p>
          <a:p>
            <a:pPr lvl="1">
              <a:spcAft>
                <a:spcPts val="700"/>
              </a:spcAft>
            </a:pPr>
            <a:r>
              <a:rPr sz="1900">
                <a:solidFill>
                  <a:srgbClr val="2D3436"/>
                </a:solidFill>
                <a:latin typeface="Aptos"/>
              </a:rPr>
              <a:t>python3 RQ2/airport_trip_analysis.py</a:t>
            </a:r>
          </a:p>
          <a:p>
            <a:pPr lvl="1">
              <a:spcAft>
                <a:spcPts val="700"/>
              </a:spcAft>
            </a:pPr>
            <a:r>
              <a:rPr sz="1900">
                <a:solidFill>
                  <a:srgbClr val="2D3436"/>
                </a:solidFill>
                <a:latin typeface="Aptos"/>
              </a:rPr>
              <a:t>python3 RQ3/cashless_payment_analysis.py</a:t>
            </a:r>
          </a:p>
          <a:p>
            <a:pPr>
              <a:spcAft>
                <a:spcPts val="700"/>
              </a:spcAft>
            </a:pPr>
            <a:r>
              <a:rPr sz="2000">
                <a:solidFill>
                  <a:srgbClr val="2D3436"/>
                </a:solidFill>
                <a:latin typeface="Aptos"/>
              </a:rPr>
              <a:t>Local data requirement: monthly TLC parquet files plus `taxi_zone_lookup.csv` in `taxi_data/`</a:t>
            </a:r>
          </a:p>
        </p:txBody>
      </p:sp>
      <p:sp>
        <p:nvSpPr>
          <p:cNvPr id="5" name="Rounded Rectangle 4"/>
          <p:cNvSpPr/>
          <p:nvPr/>
        </p:nvSpPr>
        <p:spPr>
          <a:xfrm>
            <a:off x="8001000" y="1508760"/>
            <a:ext cx="3474720" cy="3474720"/>
          </a:xfrm>
          <a:prstGeom prst="roundRect">
            <a:avLst/>
          </a:prstGeom>
          <a:solidFill>
            <a:srgbClr val="FBF5E2"/>
          </a:solidFill>
          <a:ln>
            <a:solidFill>
              <a:srgbClr val="FBF5E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pPr>
            <a:r>
              <a:rPr sz="1600" b="1">
                <a:solidFill>
                  <a:srgbClr val="14213D"/>
                </a:solidFill>
                <a:latin typeface="Aptos"/>
              </a:rPr>
              <a:t>Submission reminder</a:t>
            </a:r>
          </a:p>
          <a:p>
            <a:pPr>
              <a:spcAft>
                <a:spcPts val="300"/>
              </a:spcAft>
            </a:pPr>
            <a:r>
              <a:rPr sz="1500">
                <a:solidFill>
                  <a:srgbClr val="2D3436"/>
                </a:solidFill>
                <a:latin typeface="Aptos"/>
              </a:rPr>
              <a:t>Export slide deck as PDF</a:t>
            </a:r>
          </a:p>
          <a:p>
            <a:pPr>
              <a:spcAft>
                <a:spcPts val="300"/>
              </a:spcAft>
            </a:pPr>
            <a:r>
              <a:rPr sz="1500">
                <a:solidFill>
                  <a:srgbClr val="2D3436"/>
                </a:solidFill>
                <a:latin typeface="Aptos"/>
              </a:rPr>
              <a:t>Submit the PDF and video</a:t>
            </a:r>
          </a:p>
          <a:p>
            <a:pPr>
              <a:spcAft>
                <a:spcPts val="300"/>
              </a:spcAft>
            </a:pPr>
            <a:r>
              <a:rPr sz="1500">
                <a:solidFill>
                  <a:srgbClr val="2D3436"/>
                </a:solidFill>
                <a:latin typeface="Aptos"/>
              </a:rPr>
              <a:t>Keep the recording under 15 minutes</a:t>
            </a:r>
          </a:p>
        </p:txBody>
      </p:sp>
      <p:sp>
        <p:nvSpPr>
          <p:cNvPr id="6" name="TextBox 5"/>
          <p:cNvSpPr txBox="1"/>
          <p:nvPr/>
        </p:nvSpPr>
        <p:spPr>
          <a:xfrm>
            <a:off x="11567160" y="6400800"/>
            <a:ext cx="411480" cy="228600"/>
          </a:xfrm>
          <a:prstGeom prst="rect">
            <a:avLst/>
          </a:prstGeom>
          <a:noFill/>
        </p:spPr>
        <p:txBody>
          <a:bodyPr wrap="none">
            <a:spAutoFit/>
          </a:bodyPr>
          <a:lstStyle/>
          <a:p>
            <a:pPr algn="r"/>
            <a:r>
              <a:rPr sz="1400">
                <a:solidFill>
                  <a:srgbClr val="6E757E"/>
                </a:solidFill>
                <a:latin typeface="Apto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